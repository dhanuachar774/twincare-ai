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JetBrains Mono"/>
      <p:regular r:id="rId19"/>
      <p:bold r:id="rId22"/>
    </p:embeddedFont>
    <p:embeddedFont>
      <p:font typeface="Space Grotesk"/>
      <p:regular r:id="rId21"/>
      <p:bold r:id="rId20"/>
    </p:embeddedFont>
    <p:embeddedFont>
      <p:font typeface="Inter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181350"/>
            <a:ext cx="5610225" cy="628650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685800" y="3181350"/>
            <a:ext cx="28575" cy="6286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4000500"/>
            <a:ext cx="1997720" cy="28575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362200" y="4000500"/>
            <a:ext cx="1997720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3925" y="5138738"/>
            <a:ext cx="1714500" cy="438150"/>
          </a:xfrm>
          <a:prstGeom prst="roundRect">
            <a:avLst>
              <a:gd name="adj" fmla="val 17391"/>
            </a:avLst>
          </a:prstGeom>
          <a:solidFill>
            <a:srgbClr val="12081F">
              <a:alpha val="50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90825" y="5138738"/>
            <a:ext cx="1714500" cy="438150"/>
          </a:xfrm>
          <a:prstGeom prst="roundRect">
            <a:avLst>
              <a:gd name="adj" fmla="val 17391"/>
            </a:avLst>
          </a:prstGeom>
          <a:solidFill>
            <a:srgbClr val="12081F">
              <a:alpha val="50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7725" y="5138738"/>
            <a:ext cx="1714500" cy="438150"/>
          </a:xfrm>
          <a:prstGeom prst="roundRect">
            <a:avLst>
              <a:gd name="adj" fmla="val 17391"/>
            </a:avLst>
          </a:prstGeom>
          <a:solidFill>
            <a:srgbClr val="12081F">
              <a:alpha val="50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6000" y="857250"/>
            <a:ext cx="4972050" cy="4972050"/>
          </a:xfrm>
          <a:prstGeom prst="roundRect">
            <a:avLst>
              <a:gd name="adj" fmla="val 50000"/>
            </a:avLst>
          </a:prstGeom>
          <a:ln w="9525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2d3ee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20000" y="2381250"/>
            <a:ext cx="2286000" cy="2286000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4960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542925"/>
            <a:ext cx="40466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HAPPIEST HEALTH DIGITAL TWIN CHALLENGE 2026</a:t>
            </a:r>
            <a:endParaRPr lang="en-US" sz="975" dirty="0"/>
          </a:p>
        </p:txBody>
      </p:sp>
      <p:sp>
        <p:nvSpPr>
          <p:cNvPr id="15" name="Text 10"/>
          <p:cNvSpPr/>
          <p:nvPr/>
        </p:nvSpPr>
        <p:spPr>
          <a:xfrm>
            <a:off x="10914013" y="5429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12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85800" y="952500"/>
            <a:ext cx="4336107" cy="107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600" b="1" spc="-19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TwinCare </a:t>
            </a:r>
            <a:pPr algn="l" indent="0" marL="0">
              <a:buNone/>
            </a:pPr>
            <a:r>
              <a:rPr lang="en-US" sz="6600" b="1" spc="-198" kern="0" dirty="0">
                <a:solidFill>
                  <a:srgbClr val="FF3D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</a:t>
            </a:r>
            <a:endParaRPr lang="en-US" sz="6600" dirty="0"/>
          </a:p>
        </p:txBody>
      </p:sp>
      <p:sp>
        <p:nvSpPr>
          <p:cNvPr id="17" name="Text 12"/>
          <p:cNvSpPr/>
          <p:nvPr/>
        </p:nvSpPr>
        <p:spPr>
          <a:xfrm>
            <a:off x="685800" y="2200275"/>
            <a:ext cx="465221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>
                <a:solidFill>
                  <a:srgbClr val="B8A9D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Healthcare Digital Twin &amp; Dynamic Telemetry Analytics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962025" y="3181350"/>
            <a:ext cx="4845546" cy="603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spc="-1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“Simulating physiological patterns. Exploring health scenarios.”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52500" y="4057650"/>
            <a:ext cx="16071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34" b="1" spc="117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PROTOTYPE</a:t>
            </a:r>
            <a:endParaRPr lang="en-US" sz="834" dirty="0"/>
          </a:p>
        </p:txBody>
      </p:sp>
      <p:sp>
        <p:nvSpPr>
          <p:cNvPr id="20" name="Text 15"/>
          <p:cNvSpPr/>
          <p:nvPr/>
        </p:nvSpPr>
        <p:spPr>
          <a:xfrm>
            <a:off x="2628900" y="4057650"/>
            <a:ext cx="16071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 TELEMETRY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923925" y="4648200"/>
            <a:ext cx="33340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PARTICIPANT &amp; SUBMISSION DETAILS · EDITABLE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923925" y="4914900"/>
            <a:ext cx="12406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PARTICIPANT NAME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1047750" y="5253038"/>
            <a:ext cx="6859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Dhanushree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790825" y="4914900"/>
            <a:ext cx="5427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2914650" y="5253038"/>
            <a:ext cx="1097310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City Engineering College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657725" y="4914900"/>
            <a:ext cx="139571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SUBMISSION DETAILS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781550" y="5253038"/>
            <a:ext cx="10288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Solo submission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8640961" y="3295650"/>
            <a:ext cx="2439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650" b="1" spc="-3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TC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7716292" y="5153025"/>
            <a:ext cx="209341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VIRTUAL PATIENT · SYNTHETIC SIGNALS</a:t>
            </a:r>
            <a:endParaRPr lang="en-US" sz="825" dirty="0"/>
          </a:p>
        </p:txBody>
      </p:sp>
      <p:sp>
        <p:nvSpPr>
          <p:cNvPr id="30" name="Text 25"/>
          <p:cNvSpPr/>
          <p:nvPr/>
        </p:nvSpPr>
        <p:spPr>
          <a:xfrm>
            <a:off x="685800" y="6500813"/>
            <a:ext cx="2627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DATA · SIMULATED OUTPUT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8947547" y="6500813"/>
            <a:ext cx="25586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TwinCare AI · Hackathon prototype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354419" y="533400"/>
            <a:ext cx="1151781" cy="26670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22860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3181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40767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57800" y="2514600"/>
            <a:ext cx="1592014" cy="461963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5257800" y="2967038"/>
            <a:ext cx="1592014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849814" y="2514600"/>
            <a:ext cx="1856184" cy="461963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6849814" y="2967038"/>
            <a:ext cx="1856184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705999" y="2514600"/>
            <a:ext cx="1426369" cy="461963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8705999" y="2967038"/>
            <a:ext cx="1426369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0132368" y="2514600"/>
            <a:ext cx="1373832" cy="461963"/>
          </a:xfrm>
          <a:prstGeom prst="rect">
            <a:avLst/>
          </a:prstGeom>
          <a:ln/>
        </p:spPr>
      </p:sp>
      <p:sp>
        <p:nvSpPr>
          <p:cNvPr id="14" name="Shape 11"/>
          <p:cNvSpPr/>
          <p:nvPr/>
        </p:nvSpPr>
        <p:spPr>
          <a:xfrm>
            <a:off x="10132368" y="2967038"/>
            <a:ext cx="1373832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257800" y="2976563"/>
            <a:ext cx="1592014" cy="781050"/>
          </a:xfrm>
          <a:prstGeom prst="rect">
            <a:avLst/>
          </a:prstGeom>
          <a:ln/>
        </p:spPr>
      </p:sp>
      <p:sp>
        <p:nvSpPr>
          <p:cNvPr id="16" name="Shape 13"/>
          <p:cNvSpPr/>
          <p:nvPr/>
        </p:nvSpPr>
        <p:spPr>
          <a:xfrm>
            <a:off x="6840289" y="2976563"/>
            <a:ext cx="9525" cy="781050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257800" y="3748087"/>
            <a:ext cx="159201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849814" y="2976563"/>
            <a:ext cx="1856184" cy="390525"/>
          </a:xfrm>
          <a:prstGeom prst="rect">
            <a:avLst/>
          </a:prstGeom>
          <a:ln/>
        </p:spPr>
      </p:sp>
      <p:sp>
        <p:nvSpPr>
          <p:cNvPr id="19" name="Shape 16"/>
          <p:cNvSpPr/>
          <p:nvPr/>
        </p:nvSpPr>
        <p:spPr>
          <a:xfrm>
            <a:off x="6849814" y="3357563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705999" y="2976563"/>
            <a:ext cx="1426369" cy="390525"/>
          </a:xfrm>
          <a:prstGeom prst="rect">
            <a:avLst/>
          </a:prstGeom>
          <a:ln/>
        </p:spPr>
      </p:sp>
      <p:sp>
        <p:nvSpPr>
          <p:cNvPr id="21" name="Shape 18"/>
          <p:cNvSpPr/>
          <p:nvPr/>
        </p:nvSpPr>
        <p:spPr>
          <a:xfrm>
            <a:off x="8705999" y="3357563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132368" y="2976563"/>
            <a:ext cx="1373832" cy="390525"/>
          </a:xfrm>
          <a:prstGeom prst="rect">
            <a:avLst/>
          </a:prstGeom>
          <a:ln/>
        </p:spPr>
      </p:sp>
      <p:sp>
        <p:nvSpPr>
          <p:cNvPr id="23" name="Shape 20"/>
          <p:cNvSpPr/>
          <p:nvPr/>
        </p:nvSpPr>
        <p:spPr>
          <a:xfrm>
            <a:off x="10132368" y="3357563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849814" y="3367088"/>
            <a:ext cx="1856184" cy="390525"/>
          </a:xfrm>
          <a:prstGeom prst="rect">
            <a:avLst/>
          </a:prstGeom>
          <a:ln/>
        </p:spPr>
      </p:sp>
      <p:sp>
        <p:nvSpPr>
          <p:cNvPr id="25" name="Shape 22"/>
          <p:cNvSpPr/>
          <p:nvPr/>
        </p:nvSpPr>
        <p:spPr>
          <a:xfrm>
            <a:off x="6849814" y="3748087"/>
            <a:ext cx="1856184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705999" y="3367088"/>
            <a:ext cx="1426369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8705999" y="3748087"/>
            <a:ext cx="1426369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0132368" y="3367088"/>
            <a:ext cx="1373832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132368" y="3748087"/>
            <a:ext cx="1373832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257800" y="3757613"/>
            <a:ext cx="1592014" cy="1171575"/>
          </a:xfrm>
          <a:prstGeom prst="rect">
            <a:avLst/>
          </a:prstGeom>
          <a:ln/>
        </p:spPr>
      </p:sp>
      <p:sp>
        <p:nvSpPr>
          <p:cNvPr id="31" name="Shape 28"/>
          <p:cNvSpPr/>
          <p:nvPr/>
        </p:nvSpPr>
        <p:spPr>
          <a:xfrm>
            <a:off x="6840289" y="3757613"/>
            <a:ext cx="9525" cy="117157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257800" y="4919663"/>
            <a:ext cx="159201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849814" y="3757613"/>
            <a:ext cx="1856184" cy="390525"/>
          </a:xfrm>
          <a:prstGeom prst="rect">
            <a:avLst/>
          </a:prstGeom>
          <a:ln/>
        </p:spPr>
      </p:sp>
      <p:sp>
        <p:nvSpPr>
          <p:cNvPr id="34" name="Shape 31"/>
          <p:cNvSpPr/>
          <p:nvPr/>
        </p:nvSpPr>
        <p:spPr>
          <a:xfrm>
            <a:off x="6849814" y="4138613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8705999" y="3757613"/>
            <a:ext cx="1426369" cy="390525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8705999" y="4138613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0132368" y="3757613"/>
            <a:ext cx="1373832" cy="390525"/>
          </a:xfrm>
          <a:prstGeom prst="rect">
            <a:avLst/>
          </a:prstGeom>
          <a:ln/>
        </p:spPr>
      </p:sp>
      <p:sp>
        <p:nvSpPr>
          <p:cNvPr id="38" name="Shape 35"/>
          <p:cNvSpPr/>
          <p:nvPr/>
        </p:nvSpPr>
        <p:spPr>
          <a:xfrm>
            <a:off x="10132368" y="4138613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849814" y="4148137"/>
            <a:ext cx="1856184" cy="390525"/>
          </a:xfrm>
          <a:prstGeom prst="rect">
            <a:avLst/>
          </a:prstGeom>
          <a:ln/>
        </p:spPr>
      </p:sp>
      <p:sp>
        <p:nvSpPr>
          <p:cNvPr id="40" name="Shape 37"/>
          <p:cNvSpPr/>
          <p:nvPr/>
        </p:nvSpPr>
        <p:spPr>
          <a:xfrm>
            <a:off x="6849814" y="4529138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8705999" y="4148137"/>
            <a:ext cx="1426369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8705999" y="4529138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0132368" y="4148137"/>
            <a:ext cx="1373832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0132368" y="4529138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849814" y="4538663"/>
            <a:ext cx="1856184" cy="390525"/>
          </a:xfrm>
          <a:prstGeom prst="rect">
            <a:avLst/>
          </a:prstGeom>
          <a:ln/>
        </p:spPr>
      </p:sp>
      <p:sp>
        <p:nvSpPr>
          <p:cNvPr id="46" name="Shape 43"/>
          <p:cNvSpPr/>
          <p:nvPr/>
        </p:nvSpPr>
        <p:spPr>
          <a:xfrm>
            <a:off x="6849814" y="4919663"/>
            <a:ext cx="1856184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705999" y="4538663"/>
            <a:ext cx="1426369" cy="390525"/>
          </a:xfrm>
          <a:prstGeom prst="rect">
            <a:avLst/>
          </a:prstGeom>
          <a:ln/>
        </p:spPr>
      </p:sp>
      <p:sp>
        <p:nvSpPr>
          <p:cNvPr id="48" name="Shape 45"/>
          <p:cNvSpPr/>
          <p:nvPr/>
        </p:nvSpPr>
        <p:spPr>
          <a:xfrm>
            <a:off x="8705999" y="4919663"/>
            <a:ext cx="1426369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0132368" y="4538663"/>
            <a:ext cx="1373832" cy="390525"/>
          </a:xfrm>
          <a:prstGeom prst="rect">
            <a:avLst/>
          </a:prstGeom>
          <a:ln/>
        </p:spPr>
      </p:sp>
      <p:sp>
        <p:nvSpPr>
          <p:cNvPr id="50" name="Shape 47"/>
          <p:cNvSpPr/>
          <p:nvPr/>
        </p:nvSpPr>
        <p:spPr>
          <a:xfrm>
            <a:off x="10132368" y="4919663"/>
            <a:ext cx="1373832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5257800" y="4929188"/>
            <a:ext cx="1592014" cy="1171575"/>
          </a:xfrm>
          <a:prstGeom prst="rect">
            <a:avLst/>
          </a:prstGeom>
          <a:ln/>
        </p:spPr>
      </p:sp>
      <p:sp>
        <p:nvSpPr>
          <p:cNvPr id="52" name="Shape 49"/>
          <p:cNvSpPr/>
          <p:nvPr/>
        </p:nvSpPr>
        <p:spPr>
          <a:xfrm>
            <a:off x="6840289" y="4929188"/>
            <a:ext cx="9525" cy="117157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5257800" y="6091238"/>
            <a:ext cx="159201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849814" y="4929188"/>
            <a:ext cx="1856184" cy="390525"/>
          </a:xfrm>
          <a:prstGeom prst="rect">
            <a:avLst/>
          </a:prstGeom>
          <a:ln/>
        </p:spPr>
      </p:sp>
      <p:sp>
        <p:nvSpPr>
          <p:cNvPr id="55" name="Shape 52"/>
          <p:cNvSpPr/>
          <p:nvPr/>
        </p:nvSpPr>
        <p:spPr>
          <a:xfrm>
            <a:off x="6849814" y="5310188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705999" y="4929188"/>
            <a:ext cx="1426369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705999" y="5310188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0132368" y="4929188"/>
            <a:ext cx="1373832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0132368" y="5310188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6849814" y="5319713"/>
            <a:ext cx="1856184" cy="390525"/>
          </a:xfrm>
          <a:prstGeom prst="rect">
            <a:avLst/>
          </a:prstGeom>
          <a:ln/>
        </p:spPr>
      </p:sp>
      <p:sp>
        <p:nvSpPr>
          <p:cNvPr id="61" name="Shape 58"/>
          <p:cNvSpPr/>
          <p:nvPr/>
        </p:nvSpPr>
        <p:spPr>
          <a:xfrm>
            <a:off x="6849814" y="5700713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705999" y="5319713"/>
            <a:ext cx="1426369" cy="390525"/>
          </a:xfrm>
          <a:prstGeom prst="rect">
            <a:avLst/>
          </a:prstGeom>
          <a:ln/>
        </p:spPr>
      </p:sp>
      <p:sp>
        <p:nvSpPr>
          <p:cNvPr id="63" name="Shape 60"/>
          <p:cNvSpPr/>
          <p:nvPr/>
        </p:nvSpPr>
        <p:spPr>
          <a:xfrm>
            <a:off x="8705999" y="5700713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10132368" y="5319713"/>
            <a:ext cx="1373832" cy="390525"/>
          </a:xfrm>
          <a:prstGeom prst="rect">
            <a:avLst/>
          </a:prstGeom>
          <a:ln/>
        </p:spPr>
      </p:sp>
      <p:sp>
        <p:nvSpPr>
          <p:cNvPr id="65" name="Shape 62"/>
          <p:cNvSpPr/>
          <p:nvPr/>
        </p:nvSpPr>
        <p:spPr>
          <a:xfrm>
            <a:off x="10132368" y="5700713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6849814" y="5710238"/>
            <a:ext cx="1856184" cy="390525"/>
          </a:xfrm>
          <a:prstGeom prst="rect">
            <a:avLst/>
          </a:prstGeom>
          <a:ln/>
        </p:spPr>
      </p:sp>
      <p:sp>
        <p:nvSpPr>
          <p:cNvPr id="67" name="Shape 64"/>
          <p:cNvSpPr/>
          <p:nvPr/>
        </p:nvSpPr>
        <p:spPr>
          <a:xfrm>
            <a:off x="6849814" y="6091238"/>
            <a:ext cx="1856184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8705999" y="5710238"/>
            <a:ext cx="1426369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8705999" y="6091238"/>
            <a:ext cx="1426369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10132368" y="5710238"/>
            <a:ext cx="1373832" cy="3905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0132368" y="6091238"/>
            <a:ext cx="1373832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629400"/>
          </a:xfrm>
          <a:prstGeom prst="rect">
            <a:avLst/>
          </a:prstGeom>
        </p:spPr>
      </p:pic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772150"/>
            <a:ext cx="6248400" cy="438150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685800" y="533400"/>
            <a:ext cx="122351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CHALLENGE</a:t>
            </a:r>
            <a:endParaRPr lang="en-US" sz="975" dirty="0"/>
          </a:p>
        </p:txBody>
      </p:sp>
      <p:sp>
        <p:nvSpPr>
          <p:cNvPr id="75" name="Text 70"/>
          <p:cNvSpPr/>
          <p:nvPr/>
        </p:nvSpPr>
        <p:spPr>
          <a:xfrm>
            <a:off x="685800" y="762000"/>
            <a:ext cx="6095851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Challenge: Understanding Dynamic Physiological Patterns</a:t>
            </a:r>
            <a:endParaRPr lang="en-US" sz="3300" dirty="0"/>
          </a:p>
        </p:txBody>
      </p:sp>
      <p:sp>
        <p:nvSpPr>
          <p:cNvPr id="76" name="Text 71"/>
          <p:cNvSpPr/>
          <p:nvPr/>
        </p:nvSpPr>
        <p:spPr>
          <a:xfrm>
            <a:off x="10621119" y="590550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900" dirty="0"/>
          </a:p>
        </p:txBody>
      </p:sp>
      <p:sp>
        <p:nvSpPr>
          <p:cNvPr id="77" name="Text 72"/>
          <p:cNvSpPr/>
          <p:nvPr/>
        </p:nvSpPr>
        <p:spPr>
          <a:xfrm>
            <a:off x="748605" y="2343150"/>
            <a:ext cx="1601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50" dirty="0"/>
          </a:p>
        </p:txBody>
      </p:sp>
      <p:sp>
        <p:nvSpPr>
          <p:cNvPr id="78" name="Text 73"/>
          <p:cNvSpPr/>
          <p:nvPr/>
        </p:nvSpPr>
        <p:spPr>
          <a:xfrm>
            <a:off x="1143000" y="2286000"/>
            <a:ext cx="14379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CHANGING PATTERNS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1143000" y="2533650"/>
            <a:ext cx="309681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in understanding changing physiological patterns over time.</a:t>
            </a:r>
            <a:endParaRPr lang="en-US" sz="1425" dirty="0"/>
          </a:p>
        </p:txBody>
      </p:sp>
      <p:sp>
        <p:nvSpPr>
          <p:cNvPr id="80" name="Text 75"/>
          <p:cNvSpPr/>
          <p:nvPr/>
        </p:nvSpPr>
        <p:spPr>
          <a:xfrm>
            <a:off x="748605" y="3238500"/>
            <a:ext cx="1601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81" name="Text 76"/>
          <p:cNvSpPr/>
          <p:nvPr/>
        </p:nvSpPr>
        <p:spPr>
          <a:xfrm>
            <a:off x="1143000" y="3181350"/>
            <a:ext cx="126876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FRAGMENTED DATA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1143000" y="3429000"/>
            <a:ext cx="3105745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of integrating multiple, disconnected health measurements.</a:t>
            </a:r>
            <a:endParaRPr lang="en-US" sz="1425" dirty="0"/>
          </a:p>
        </p:txBody>
      </p:sp>
      <p:sp>
        <p:nvSpPr>
          <p:cNvPr id="83" name="Text 78"/>
          <p:cNvSpPr/>
          <p:nvPr/>
        </p:nvSpPr>
        <p:spPr>
          <a:xfrm>
            <a:off x="748605" y="4133850"/>
            <a:ext cx="1601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84" name="Text 79"/>
          <p:cNvSpPr/>
          <p:nvPr/>
        </p:nvSpPr>
        <p:spPr>
          <a:xfrm>
            <a:off x="1143000" y="4076700"/>
            <a:ext cx="169172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HIDDEN RELATIONSHIPS</a:t>
            </a:r>
            <a:endParaRPr lang="en-US" sz="900" dirty="0"/>
          </a:p>
        </p:txBody>
      </p:sp>
      <p:sp>
        <p:nvSpPr>
          <p:cNvPr id="85" name="Text 80"/>
          <p:cNvSpPr/>
          <p:nvPr/>
        </p:nvSpPr>
        <p:spPr>
          <a:xfrm>
            <a:off x="1143000" y="4324350"/>
            <a:ext cx="3698825" cy="1006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Explaining relationships among heart rate, blood pressure, glucose, oxygen saturation, temperature, sleep, activity, and stress.</a:t>
            </a:r>
            <a:endParaRPr lang="en-US" sz="1425" dirty="0"/>
          </a:p>
        </p:txBody>
      </p:sp>
      <p:sp>
        <p:nvSpPr>
          <p:cNvPr id="86" name="Text 81"/>
          <p:cNvSpPr/>
          <p:nvPr/>
        </p:nvSpPr>
        <p:spPr>
          <a:xfrm>
            <a:off x="942975" y="5095875"/>
            <a:ext cx="33843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95" spc="69" kern="0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</a:t>
            </a:r>
            <a:endParaRPr lang="en-US" sz="495" dirty="0"/>
          </a:p>
        </p:txBody>
      </p:sp>
      <p:sp>
        <p:nvSpPr>
          <p:cNvPr id="87" name="Text 82"/>
          <p:cNvSpPr/>
          <p:nvPr/>
        </p:nvSpPr>
        <p:spPr>
          <a:xfrm>
            <a:off x="942975" y="5362575"/>
            <a:ext cx="3627686" cy="481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66"/>
              </a:lnSpc>
              <a:buNone/>
            </a:pPr>
            <a:r>
              <a:rPr lang="en-US" sz="142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prototype to unify simulated health signals in one view.</a:t>
            </a:r>
            <a:endParaRPr lang="en-US" sz="1425" dirty="0"/>
          </a:p>
        </p:txBody>
      </p:sp>
      <p:sp>
        <p:nvSpPr>
          <p:cNvPr id="88" name="Text 83"/>
          <p:cNvSpPr/>
          <p:nvPr/>
        </p:nvSpPr>
        <p:spPr>
          <a:xfrm>
            <a:off x="5257800" y="2247900"/>
            <a:ext cx="541332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EIGHT SIGNALS · SEPARATE MEASUREMENTS VS. UNIFIED PROTOTYPE VIEW</a:t>
            </a:r>
            <a:endParaRPr lang="en-US" sz="900" dirty="0"/>
          </a:p>
        </p:txBody>
      </p:sp>
      <p:sp>
        <p:nvSpPr>
          <p:cNvPr id="89" name="Text 84"/>
          <p:cNvSpPr/>
          <p:nvPr/>
        </p:nvSpPr>
        <p:spPr>
          <a:xfrm>
            <a:off x="5372100" y="2676525"/>
            <a:ext cx="465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DOMAIN</a:t>
            </a:r>
            <a:endParaRPr lang="en-US" sz="825" dirty="0"/>
          </a:p>
        </p:txBody>
      </p:sp>
      <p:sp>
        <p:nvSpPr>
          <p:cNvPr id="90" name="Text 85"/>
          <p:cNvSpPr/>
          <p:nvPr/>
        </p:nvSpPr>
        <p:spPr>
          <a:xfrm>
            <a:off x="6964114" y="2676525"/>
            <a:ext cx="465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825" dirty="0"/>
          </a:p>
        </p:txBody>
      </p:sp>
      <p:sp>
        <p:nvSpPr>
          <p:cNvPr id="91" name="Text 86"/>
          <p:cNvSpPr/>
          <p:nvPr/>
        </p:nvSpPr>
        <p:spPr>
          <a:xfrm>
            <a:off x="8820299" y="2676525"/>
            <a:ext cx="9304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DISCONNECTED</a:t>
            </a:r>
            <a:endParaRPr lang="en-US" sz="825" dirty="0"/>
          </a:p>
        </p:txBody>
      </p:sp>
      <p:sp>
        <p:nvSpPr>
          <p:cNvPr id="92" name="Text 87"/>
          <p:cNvSpPr/>
          <p:nvPr/>
        </p:nvSpPr>
        <p:spPr>
          <a:xfrm>
            <a:off x="10246668" y="2609850"/>
            <a:ext cx="697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UNIFIED PROTOTYPE</a:t>
            </a:r>
            <a:endParaRPr lang="en-US" sz="825" dirty="0"/>
          </a:p>
        </p:txBody>
      </p:sp>
      <p:sp>
        <p:nvSpPr>
          <p:cNvPr id="93" name="Text 88"/>
          <p:cNvSpPr/>
          <p:nvPr/>
        </p:nvSpPr>
        <p:spPr>
          <a:xfrm>
            <a:off x="5372100" y="3290888"/>
            <a:ext cx="112022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CARDIOVASCULAR</a:t>
            </a:r>
            <a:endParaRPr lang="en-US" sz="900" dirty="0"/>
          </a:p>
        </p:txBody>
      </p:sp>
      <p:sp>
        <p:nvSpPr>
          <p:cNvPr id="94" name="Text 89"/>
          <p:cNvSpPr/>
          <p:nvPr/>
        </p:nvSpPr>
        <p:spPr>
          <a:xfrm>
            <a:off x="6968877" y="3067050"/>
            <a:ext cx="78655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Heart rate</a:t>
            </a:r>
            <a:endParaRPr lang="en-US" sz="1275" dirty="0"/>
          </a:p>
        </p:txBody>
      </p:sp>
      <p:sp>
        <p:nvSpPr>
          <p:cNvPr id="95" name="Text 90"/>
          <p:cNvSpPr/>
          <p:nvPr/>
        </p:nvSpPr>
        <p:spPr>
          <a:xfrm>
            <a:off x="8820299" y="3081338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96" name="Text 91"/>
          <p:cNvSpPr/>
          <p:nvPr/>
        </p:nvSpPr>
        <p:spPr>
          <a:xfrm>
            <a:off x="10246668" y="2990850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97" name="Text 92"/>
          <p:cNvSpPr/>
          <p:nvPr/>
        </p:nvSpPr>
        <p:spPr>
          <a:xfrm>
            <a:off x="6968877" y="3457575"/>
            <a:ext cx="11749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Blood pressure</a:t>
            </a:r>
            <a:endParaRPr lang="en-US" sz="1275" dirty="0"/>
          </a:p>
        </p:txBody>
      </p:sp>
      <p:sp>
        <p:nvSpPr>
          <p:cNvPr id="98" name="Text 93"/>
          <p:cNvSpPr/>
          <p:nvPr/>
        </p:nvSpPr>
        <p:spPr>
          <a:xfrm>
            <a:off x="8820299" y="3471863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99" name="Text 94"/>
          <p:cNvSpPr/>
          <p:nvPr/>
        </p:nvSpPr>
        <p:spPr>
          <a:xfrm>
            <a:off x="10246668" y="3381375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00" name="Text 95"/>
          <p:cNvSpPr/>
          <p:nvPr/>
        </p:nvSpPr>
        <p:spPr>
          <a:xfrm>
            <a:off x="5372100" y="4191000"/>
            <a:ext cx="88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METABOLIC &amp; RESPIRATORY</a:t>
            </a:r>
            <a:endParaRPr lang="en-US" sz="900" dirty="0"/>
          </a:p>
        </p:txBody>
      </p:sp>
      <p:sp>
        <p:nvSpPr>
          <p:cNvPr id="101" name="Text 96"/>
          <p:cNvSpPr/>
          <p:nvPr/>
        </p:nvSpPr>
        <p:spPr>
          <a:xfrm>
            <a:off x="6968877" y="3848100"/>
            <a:ext cx="6226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Glucose</a:t>
            </a:r>
            <a:endParaRPr lang="en-US" sz="1275" dirty="0"/>
          </a:p>
        </p:txBody>
      </p:sp>
      <p:sp>
        <p:nvSpPr>
          <p:cNvPr id="102" name="Text 97"/>
          <p:cNvSpPr/>
          <p:nvPr/>
        </p:nvSpPr>
        <p:spPr>
          <a:xfrm>
            <a:off x="8820299" y="3862387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03" name="Text 98"/>
          <p:cNvSpPr/>
          <p:nvPr/>
        </p:nvSpPr>
        <p:spPr>
          <a:xfrm>
            <a:off x="10246668" y="3771900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04" name="Text 99"/>
          <p:cNvSpPr/>
          <p:nvPr/>
        </p:nvSpPr>
        <p:spPr>
          <a:xfrm>
            <a:off x="6968877" y="4238625"/>
            <a:ext cx="14528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Oxygen saturation</a:t>
            </a:r>
            <a:endParaRPr lang="en-US" sz="1275" dirty="0"/>
          </a:p>
        </p:txBody>
      </p:sp>
      <p:sp>
        <p:nvSpPr>
          <p:cNvPr id="105" name="Text 100"/>
          <p:cNvSpPr/>
          <p:nvPr/>
        </p:nvSpPr>
        <p:spPr>
          <a:xfrm>
            <a:off x="8820299" y="4252913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06" name="Text 101"/>
          <p:cNvSpPr/>
          <p:nvPr/>
        </p:nvSpPr>
        <p:spPr>
          <a:xfrm>
            <a:off x="10246668" y="4162425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07" name="Text 102"/>
          <p:cNvSpPr/>
          <p:nvPr/>
        </p:nvSpPr>
        <p:spPr>
          <a:xfrm>
            <a:off x="6968877" y="4629150"/>
            <a:ext cx="98687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Temperature</a:t>
            </a:r>
            <a:endParaRPr lang="en-US" sz="1275" dirty="0"/>
          </a:p>
        </p:txBody>
      </p:sp>
      <p:sp>
        <p:nvSpPr>
          <p:cNvPr id="108" name="Text 103"/>
          <p:cNvSpPr/>
          <p:nvPr/>
        </p:nvSpPr>
        <p:spPr>
          <a:xfrm>
            <a:off x="8820299" y="4643438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09" name="Text 104"/>
          <p:cNvSpPr/>
          <p:nvPr/>
        </p:nvSpPr>
        <p:spPr>
          <a:xfrm>
            <a:off x="10246668" y="4552950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10" name="Text 105"/>
          <p:cNvSpPr/>
          <p:nvPr/>
        </p:nvSpPr>
        <p:spPr>
          <a:xfrm>
            <a:off x="5372100" y="5362575"/>
            <a:ext cx="88017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LIFESTYLE &amp; STATE</a:t>
            </a:r>
            <a:endParaRPr lang="en-US" sz="900" dirty="0"/>
          </a:p>
        </p:txBody>
      </p:sp>
      <p:sp>
        <p:nvSpPr>
          <p:cNvPr id="111" name="Text 106"/>
          <p:cNvSpPr/>
          <p:nvPr/>
        </p:nvSpPr>
        <p:spPr>
          <a:xfrm>
            <a:off x="6968877" y="5019675"/>
            <a:ext cx="4323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</a:t>
            </a:r>
            <a:endParaRPr lang="en-US" sz="1275" dirty="0"/>
          </a:p>
        </p:txBody>
      </p:sp>
      <p:sp>
        <p:nvSpPr>
          <p:cNvPr id="112" name="Text 107"/>
          <p:cNvSpPr/>
          <p:nvPr/>
        </p:nvSpPr>
        <p:spPr>
          <a:xfrm>
            <a:off x="8820299" y="5033963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13" name="Text 108"/>
          <p:cNvSpPr/>
          <p:nvPr/>
        </p:nvSpPr>
        <p:spPr>
          <a:xfrm>
            <a:off x="10246668" y="4943475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14" name="Text 109"/>
          <p:cNvSpPr/>
          <p:nvPr/>
        </p:nvSpPr>
        <p:spPr>
          <a:xfrm>
            <a:off x="6968877" y="5410200"/>
            <a:ext cx="61570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</a:t>
            </a:r>
            <a:endParaRPr lang="en-US" sz="1275" dirty="0"/>
          </a:p>
        </p:txBody>
      </p:sp>
      <p:sp>
        <p:nvSpPr>
          <p:cNvPr id="115" name="Text 110"/>
          <p:cNvSpPr/>
          <p:nvPr/>
        </p:nvSpPr>
        <p:spPr>
          <a:xfrm>
            <a:off x="8820299" y="5424488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16" name="Text 111"/>
          <p:cNvSpPr/>
          <p:nvPr/>
        </p:nvSpPr>
        <p:spPr>
          <a:xfrm>
            <a:off x="10246668" y="5334000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17" name="Text 112"/>
          <p:cNvSpPr/>
          <p:nvPr/>
        </p:nvSpPr>
        <p:spPr>
          <a:xfrm>
            <a:off x="6968877" y="5800725"/>
            <a:ext cx="49708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Stress</a:t>
            </a:r>
            <a:endParaRPr lang="en-US" sz="1275" dirty="0"/>
          </a:p>
        </p:txBody>
      </p:sp>
      <p:sp>
        <p:nvSpPr>
          <p:cNvPr id="118" name="Text 113"/>
          <p:cNvSpPr/>
          <p:nvPr/>
        </p:nvSpPr>
        <p:spPr>
          <a:xfrm>
            <a:off x="8820299" y="5815013"/>
            <a:ext cx="107930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reading</a:t>
            </a:r>
            <a:endParaRPr lang="en-US" sz="1125" dirty="0"/>
          </a:p>
        </p:txBody>
      </p:sp>
      <p:sp>
        <p:nvSpPr>
          <p:cNvPr id="119" name="Text 114"/>
          <p:cNvSpPr/>
          <p:nvPr/>
        </p:nvSpPr>
        <p:spPr>
          <a:xfrm>
            <a:off x="10246668" y="5724525"/>
            <a:ext cx="9687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time view</a:t>
            </a:r>
            <a:endParaRPr lang="en-US" sz="1125" dirty="0"/>
          </a:p>
        </p:txBody>
      </p:sp>
      <p:sp>
        <p:nvSpPr>
          <p:cNvPr id="120" name="Text 115"/>
          <p:cNvSpPr/>
          <p:nvPr/>
        </p:nvSpPr>
        <p:spPr>
          <a:xfrm>
            <a:off x="685800" y="6267450"/>
            <a:ext cx="860167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a need for an interactive environment that brings multiple simulated physiological signals together to support exploration of their patterns and relationships over time.</a:t>
            </a:r>
            <a:endParaRPr lang="en-US" sz="825" dirty="0"/>
          </a:p>
        </p:txBody>
      </p:sp>
      <p:sp>
        <p:nvSpPr>
          <p:cNvPr id="121" name="Text 116"/>
          <p:cNvSpPr/>
          <p:nvPr/>
        </p:nvSpPr>
        <p:spPr>
          <a:xfrm>
            <a:off x="10914013" y="64960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81300"/>
            <a:ext cx="800100" cy="50006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685800" y="3271838"/>
            <a:ext cx="8001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485900" y="2781300"/>
            <a:ext cx="1885950" cy="500063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1485900" y="3271838"/>
            <a:ext cx="18859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371850" y="2781300"/>
            <a:ext cx="3409950" cy="500063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3371850" y="3271838"/>
            <a:ext cx="34099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3281363"/>
            <a:ext cx="800100" cy="729258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685800" y="4001095"/>
            <a:ext cx="800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485900" y="3281363"/>
            <a:ext cx="1885950" cy="729258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1485900" y="4001095"/>
            <a:ext cx="1885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371850" y="3281363"/>
            <a:ext cx="3409950" cy="729258"/>
          </a:xfrm>
          <a:prstGeom prst="rect">
            <a:avLst/>
          </a:prstGeom>
          <a:ln/>
        </p:spPr>
      </p:sp>
      <p:sp>
        <p:nvSpPr>
          <p:cNvPr id="14" name="Shape 11"/>
          <p:cNvSpPr/>
          <p:nvPr/>
        </p:nvSpPr>
        <p:spPr>
          <a:xfrm>
            <a:off x="3371850" y="4001095"/>
            <a:ext cx="3409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" y="4010620"/>
            <a:ext cx="800100" cy="72925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4730353"/>
            <a:ext cx="800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485900" y="4010620"/>
            <a:ext cx="1885950" cy="72925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485900" y="4730353"/>
            <a:ext cx="1885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371850" y="4010620"/>
            <a:ext cx="3409950" cy="72925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371850" y="4730353"/>
            <a:ext cx="3409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4739878"/>
            <a:ext cx="800100" cy="729258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685800" y="5459611"/>
            <a:ext cx="800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485900" y="4739878"/>
            <a:ext cx="1885950" cy="729258"/>
          </a:xfrm>
          <a:prstGeom prst="rect">
            <a:avLst/>
          </a:prstGeom>
          <a:ln/>
        </p:spPr>
      </p:sp>
      <p:sp>
        <p:nvSpPr>
          <p:cNvPr id="24" name="Shape 21"/>
          <p:cNvSpPr/>
          <p:nvPr/>
        </p:nvSpPr>
        <p:spPr>
          <a:xfrm>
            <a:off x="1485900" y="5459611"/>
            <a:ext cx="1885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371850" y="4739878"/>
            <a:ext cx="3409950" cy="729258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3371850" y="5459611"/>
            <a:ext cx="3409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85800" y="5469136"/>
            <a:ext cx="800100" cy="6191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6078736"/>
            <a:ext cx="800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485900" y="5469136"/>
            <a:ext cx="1885950" cy="6191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485900" y="6078736"/>
            <a:ext cx="1885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71850" y="5469136"/>
            <a:ext cx="3409950" cy="6191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371850" y="6078736"/>
            <a:ext cx="3409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85800" y="6088261"/>
            <a:ext cx="800100" cy="619125"/>
          </a:xfrm>
          <a:prstGeom prst="rect">
            <a:avLst/>
          </a:prstGeom>
          <a:ln/>
        </p:spPr>
      </p:sp>
      <p:sp>
        <p:nvSpPr>
          <p:cNvPr id="34" name="Shape 31"/>
          <p:cNvSpPr/>
          <p:nvPr/>
        </p:nvSpPr>
        <p:spPr>
          <a:xfrm>
            <a:off x="685800" y="6697861"/>
            <a:ext cx="800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485900" y="6088261"/>
            <a:ext cx="1885950" cy="619125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1485900" y="6697861"/>
            <a:ext cx="1885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371850" y="6088261"/>
            <a:ext cx="3409950" cy="619125"/>
          </a:xfrm>
          <a:prstGeom prst="rect">
            <a:avLst/>
          </a:prstGeom>
          <a:ln/>
        </p:spPr>
      </p:sp>
      <p:sp>
        <p:nvSpPr>
          <p:cNvPr id="38" name="Shape 35"/>
          <p:cNvSpPr/>
          <p:nvPr/>
        </p:nvSpPr>
        <p:spPr>
          <a:xfrm>
            <a:off x="3371850" y="6697861"/>
            <a:ext cx="34099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115175" y="2733675"/>
            <a:ext cx="228600" cy="228600"/>
          </a:xfrm>
          <a:prstGeom prst="rect">
            <a:avLst/>
          </a:prstGeom>
          <a:ln/>
        </p:spPr>
      </p:sp>
      <p:sp>
        <p:nvSpPr>
          <p:cNvPr id="40" name="Shape 37"/>
          <p:cNvSpPr/>
          <p:nvPr/>
        </p:nvSpPr>
        <p:spPr>
          <a:xfrm>
            <a:off x="7115175" y="273367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41" name="Shape 38"/>
          <p:cNvSpPr/>
          <p:nvPr/>
        </p:nvSpPr>
        <p:spPr>
          <a:xfrm>
            <a:off x="7115175" y="273367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42" name="Shape 39"/>
          <p:cNvSpPr/>
          <p:nvPr/>
        </p:nvSpPr>
        <p:spPr>
          <a:xfrm>
            <a:off x="11325225" y="5953125"/>
            <a:ext cx="228600" cy="228600"/>
          </a:xfrm>
          <a:prstGeom prst="rect">
            <a:avLst/>
          </a:prstGeom>
          <a:ln/>
        </p:spPr>
      </p:sp>
      <p:sp>
        <p:nvSpPr>
          <p:cNvPr id="43" name="Shape 40"/>
          <p:cNvSpPr/>
          <p:nvPr/>
        </p:nvSpPr>
        <p:spPr>
          <a:xfrm>
            <a:off x="11534775" y="595312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4" name="Shape 41"/>
          <p:cNvSpPr/>
          <p:nvPr/>
        </p:nvSpPr>
        <p:spPr>
          <a:xfrm>
            <a:off x="11325225" y="616267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Shape 42"/>
          <p:cNvSpPr/>
          <p:nvPr/>
        </p:nvSpPr>
        <p:spPr>
          <a:xfrm>
            <a:off x="10154394" y="2943225"/>
            <a:ext cx="1151781" cy="28575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5" y="3343275"/>
            <a:ext cx="3886200" cy="180975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7400925" y="5286375"/>
            <a:ext cx="929729" cy="285750"/>
          </a:xfrm>
          <a:prstGeom prst="roundRect">
            <a:avLst>
              <a:gd name="adj" fmla="val 2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467725" y="5286375"/>
            <a:ext cx="849660" cy="285750"/>
          </a:xfrm>
          <a:prstGeom prst="roundRect">
            <a:avLst>
              <a:gd name="adj" fmla="val 2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534525" y="5286375"/>
            <a:ext cx="769739" cy="285750"/>
          </a:xfrm>
          <a:prstGeom prst="roundRect">
            <a:avLst>
              <a:gd name="adj" fmla="val 2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601325" y="5286375"/>
            <a:ext cx="685800" cy="285750"/>
          </a:xfrm>
          <a:prstGeom prst="roundRect">
            <a:avLst>
              <a:gd name="adj" fmla="val 2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30050" cy="6619875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85800" y="504825"/>
            <a:ext cx="11293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SOLUTION</a:t>
            </a:r>
            <a:endParaRPr lang="en-US" sz="975" dirty="0"/>
          </a:p>
        </p:txBody>
      </p:sp>
      <p:sp>
        <p:nvSpPr>
          <p:cNvPr id="53" name="Text 48"/>
          <p:cNvSpPr/>
          <p:nvPr/>
        </p:nvSpPr>
        <p:spPr>
          <a:xfrm>
            <a:off x="685800" y="876300"/>
            <a:ext cx="7251353" cy="99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Solution: TwinCare AI —</a:t>
            </a:r>
            <a:pPr algn="l" indent="0" marL="0">
              <a:lnSpc>
                <a:spcPts val="3630"/>
              </a:lnSpc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Interactive Healthcare Digital Twin</a:t>
            </a:r>
            <a:endParaRPr lang="en-US" sz="3300" dirty="0"/>
          </a:p>
        </p:txBody>
      </p:sp>
      <p:sp>
        <p:nvSpPr>
          <p:cNvPr id="54" name="Text 49"/>
          <p:cNvSpPr/>
          <p:nvPr/>
        </p:nvSpPr>
        <p:spPr>
          <a:xfrm>
            <a:off x="685800" y="1971675"/>
            <a:ext cx="70142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prototype that models a virtual patient's physiological telemetry using synthetic data, presented in one unified dashboard.</a:t>
            </a:r>
            <a:endParaRPr lang="en-US" sz="1500" dirty="0"/>
          </a:p>
        </p:txBody>
      </p:sp>
      <p:sp>
        <p:nvSpPr>
          <p:cNvPr id="55" name="Text 50"/>
          <p:cNvSpPr/>
          <p:nvPr/>
        </p:nvSpPr>
        <p:spPr>
          <a:xfrm>
            <a:off x="819150" y="2952750"/>
            <a:ext cx="25375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NO.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1619250" y="2952750"/>
            <a:ext cx="42297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FOCUS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3505200" y="2952750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POINT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819150" y="3559373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75" dirty="0"/>
          </a:p>
        </p:txBody>
      </p:sp>
      <p:sp>
        <p:nvSpPr>
          <p:cNvPr id="59" name="Text 54"/>
          <p:cNvSpPr/>
          <p:nvPr/>
        </p:nvSpPr>
        <p:spPr>
          <a:xfrm>
            <a:off x="1619250" y="3565922"/>
            <a:ext cx="7407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PROTOTYPE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505200" y="3305175"/>
            <a:ext cx="2687241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TwinCare AI as an interactive healthcare digital twin prototype</a:t>
            </a:r>
            <a:endParaRPr lang="en-US" sz="1350" dirty="0"/>
          </a:p>
        </p:txBody>
      </p:sp>
      <p:sp>
        <p:nvSpPr>
          <p:cNvPr id="61" name="Text 56"/>
          <p:cNvSpPr/>
          <p:nvPr/>
        </p:nvSpPr>
        <p:spPr>
          <a:xfrm>
            <a:off x="819150" y="4288631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75" dirty="0"/>
          </a:p>
        </p:txBody>
      </p:sp>
      <p:sp>
        <p:nvSpPr>
          <p:cNvPr id="62" name="Text 57"/>
          <p:cNvSpPr/>
          <p:nvPr/>
        </p:nvSpPr>
        <p:spPr>
          <a:xfrm>
            <a:off x="1619250" y="4295180"/>
            <a:ext cx="123452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VIRTUAL PATIENT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3505200" y="4034433"/>
            <a:ext cx="2365474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a virtual patient's physiological telemetry using synthetic data</a:t>
            </a:r>
            <a:endParaRPr lang="en-US" sz="1350" dirty="0"/>
          </a:p>
        </p:txBody>
      </p:sp>
      <p:sp>
        <p:nvSpPr>
          <p:cNvPr id="64" name="Text 59"/>
          <p:cNvSpPr/>
          <p:nvPr/>
        </p:nvSpPr>
        <p:spPr>
          <a:xfrm>
            <a:off x="819150" y="5017889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75" dirty="0"/>
          </a:p>
        </p:txBody>
      </p:sp>
      <p:sp>
        <p:nvSpPr>
          <p:cNvPr id="65" name="Text 60"/>
          <p:cNvSpPr/>
          <p:nvPr/>
        </p:nvSpPr>
        <p:spPr>
          <a:xfrm>
            <a:off x="1619250" y="5024438"/>
            <a:ext cx="156373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 &amp; INSPECT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3505200" y="4763691"/>
            <a:ext cx="2710160" cy="679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users to configure virtual patients and inspect time-series signals</a:t>
            </a:r>
            <a:endParaRPr lang="en-US" sz="1350" dirty="0"/>
          </a:p>
        </p:txBody>
      </p:sp>
      <p:sp>
        <p:nvSpPr>
          <p:cNvPr id="67" name="Text 62"/>
          <p:cNvSpPr/>
          <p:nvPr/>
        </p:nvSpPr>
        <p:spPr>
          <a:xfrm>
            <a:off x="819150" y="5692080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75" dirty="0"/>
          </a:p>
        </p:txBody>
      </p:sp>
      <p:sp>
        <p:nvSpPr>
          <p:cNvPr id="68" name="Text 63"/>
          <p:cNvSpPr/>
          <p:nvPr/>
        </p:nvSpPr>
        <p:spPr>
          <a:xfrm>
            <a:off x="1619250" y="5698629"/>
            <a:ext cx="7407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SCENARIOS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3505200" y="5557838"/>
            <a:ext cx="297016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exploration of simulated scenarios and physiological patterns</a:t>
            </a:r>
            <a:endParaRPr lang="en-US" sz="1350" dirty="0"/>
          </a:p>
        </p:txBody>
      </p:sp>
      <p:sp>
        <p:nvSpPr>
          <p:cNvPr id="70" name="Text 65"/>
          <p:cNvSpPr/>
          <p:nvPr/>
        </p:nvSpPr>
        <p:spPr>
          <a:xfrm>
            <a:off x="819150" y="6311205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75" dirty="0"/>
          </a:p>
        </p:txBody>
      </p:sp>
      <p:sp>
        <p:nvSpPr>
          <p:cNvPr id="71" name="Text 66"/>
          <p:cNvSpPr/>
          <p:nvPr/>
        </p:nvSpPr>
        <p:spPr>
          <a:xfrm>
            <a:off x="1619250" y="6317754"/>
            <a:ext cx="139913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UNIFIED DASHBOARD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3505200" y="6176963"/>
            <a:ext cx="2584847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Presents data through a unified, interactive dashboard</a:t>
            </a:r>
            <a:endParaRPr lang="en-US" sz="1350" dirty="0"/>
          </a:p>
        </p:txBody>
      </p:sp>
      <p:sp>
        <p:nvSpPr>
          <p:cNvPr id="73" name="Text 68"/>
          <p:cNvSpPr/>
          <p:nvPr/>
        </p:nvSpPr>
        <p:spPr>
          <a:xfrm>
            <a:off x="7400925" y="3009900"/>
            <a:ext cx="22837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VIRTUAL PATIENT · TELEMETRY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10421094" y="3000375"/>
            <a:ext cx="761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7505700" y="5362575"/>
            <a:ext cx="72017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8572500" y="5362575"/>
            <a:ext cx="640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GENERATE</a:t>
            </a:r>
            <a:endParaRPr lang="en-US" sz="900" dirty="0"/>
          </a:p>
        </p:txBody>
      </p:sp>
      <p:sp>
        <p:nvSpPr>
          <p:cNvPr id="77" name="Text 72"/>
          <p:cNvSpPr/>
          <p:nvPr/>
        </p:nvSpPr>
        <p:spPr>
          <a:xfrm>
            <a:off x="9639300" y="5362575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INSPECT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10687050" y="5362575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EXPLORE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7400925" y="5772150"/>
            <a:ext cx="3712964" cy="3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trace only. Synthetic telemetry generated by the prototype, not patient measurements.</a:t>
            </a:r>
            <a:endParaRPr lang="en-US" sz="1050" dirty="0"/>
          </a:p>
        </p:txBody>
      </p:sp>
      <p:sp>
        <p:nvSpPr>
          <p:cNvPr id="80" name="Text 75"/>
          <p:cNvSpPr/>
          <p:nvPr/>
        </p:nvSpPr>
        <p:spPr>
          <a:xfrm>
            <a:off x="10914013" y="64865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533400"/>
            <a:ext cx="1981200" cy="857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00100" y="4148137"/>
            <a:ext cx="1320998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048000" y="4148137"/>
            <a:ext cx="1151781" cy="28575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95900" y="4148137"/>
            <a:ext cx="1320998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543800" y="4148137"/>
            <a:ext cx="1320998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791700" y="4148137"/>
            <a:ext cx="1151781" cy="28575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4800600"/>
            <a:ext cx="1905000" cy="652463"/>
          </a:xfrm>
          <a:prstGeom prst="rect">
            <a:avLst/>
          </a:prstGeom>
          <a:ln/>
        </p:spPr>
      </p:sp>
      <p:sp>
        <p:nvSpPr>
          <p:cNvPr id="10" name="Shape 6"/>
          <p:cNvSpPr/>
          <p:nvPr/>
        </p:nvSpPr>
        <p:spPr>
          <a:xfrm>
            <a:off x="685800" y="5443538"/>
            <a:ext cx="19050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2590800" y="4800600"/>
            <a:ext cx="4457700" cy="652463"/>
          </a:xfrm>
          <a:prstGeom prst="rect">
            <a:avLst/>
          </a:prstGeom>
          <a:ln/>
        </p:spPr>
      </p:sp>
      <p:sp>
        <p:nvSpPr>
          <p:cNvPr id="12" name="Shape 8"/>
          <p:cNvSpPr/>
          <p:nvPr/>
        </p:nvSpPr>
        <p:spPr>
          <a:xfrm>
            <a:off x="2590800" y="5443538"/>
            <a:ext cx="44577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680347" y="4981575"/>
            <a:ext cx="1151781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48500" y="4800600"/>
            <a:ext cx="4457700" cy="652463"/>
          </a:xfrm>
          <a:prstGeom prst="rect">
            <a:avLst/>
          </a:prstGeom>
          <a:ln/>
        </p:spPr>
      </p:sp>
      <p:sp>
        <p:nvSpPr>
          <p:cNvPr id="15" name="Shape 11"/>
          <p:cNvSpPr/>
          <p:nvPr/>
        </p:nvSpPr>
        <p:spPr>
          <a:xfrm>
            <a:off x="7048500" y="5443538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277100" y="5067300"/>
            <a:ext cx="1424583" cy="285750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5453063"/>
            <a:ext cx="1905000" cy="592336"/>
          </a:xfrm>
          <a:prstGeom prst="rect">
            <a:avLst/>
          </a:prstGeom>
          <a:ln/>
        </p:spPr>
      </p:sp>
      <p:sp>
        <p:nvSpPr>
          <p:cNvPr id="18" name="Shape 14"/>
          <p:cNvSpPr/>
          <p:nvPr/>
        </p:nvSpPr>
        <p:spPr>
          <a:xfrm>
            <a:off x="685800" y="6035873"/>
            <a:ext cx="19050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590800" y="5453063"/>
            <a:ext cx="4457700" cy="592336"/>
          </a:xfrm>
          <a:prstGeom prst="rect">
            <a:avLst/>
          </a:prstGeom>
          <a:ln/>
        </p:spPr>
      </p:sp>
      <p:sp>
        <p:nvSpPr>
          <p:cNvPr id="20" name="Shape 16"/>
          <p:cNvSpPr/>
          <p:nvPr/>
        </p:nvSpPr>
        <p:spPr>
          <a:xfrm>
            <a:off x="2590800" y="6035873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7048500" y="5453063"/>
            <a:ext cx="4457700" cy="592336"/>
          </a:xfrm>
          <a:prstGeom prst="rect">
            <a:avLst/>
          </a:prstGeom>
          <a:ln/>
        </p:spPr>
      </p:sp>
      <p:sp>
        <p:nvSpPr>
          <p:cNvPr id="22" name="Shape 18"/>
          <p:cNvSpPr/>
          <p:nvPr/>
        </p:nvSpPr>
        <p:spPr>
          <a:xfrm>
            <a:off x="7048500" y="6035873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685800" y="6045398"/>
            <a:ext cx="1905000" cy="59233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685800" y="6628209"/>
            <a:ext cx="19050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2590800" y="6045398"/>
            <a:ext cx="4457700" cy="59233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2590800" y="6628209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7048500" y="6045398"/>
            <a:ext cx="4457700" cy="59233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7048500" y="6628209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685800" y="6637734"/>
            <a:ext cx="1905000" cy="220266"/>
          </a:xfrm>
          <a:prstGeom prst="rect">
            <a:avLst/>
          </a:prstGeom>
          <a:ln/>
        </p:spPr>
      </p:sp>
      <p:sp>
        <p:nvSpPr>
          <p:cNvPr id="30" name="Shape 26"/>
          <p:cNvSpPr/>
          <p:nvPr/>
        </p:nvSpPr>
        <p:spPr>
          <a:xfrm>
            <a:off x="685800" y="6848475"/>
            <a:ext cx="19050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2590800" y="6637734"/>
            <a:ext cx="4457700" cy="220266"/>
          </a:xfrm>
          <a:prstGeom prst="rect">
            <a:avLst/>
          </a:prstGeom>
          <a:ln/>
        </p:spPr>
      </p:sp>
      <p:sp>
        <p:nvSpPr>
          <p:cNvPr id="32" name="Shape 28"/>
          <p:cNvSpPr/>
          <p:nvPr/>
        </p:nvSpPr>
        <p:spPr>
          <a:xfrm>
            <a:off x="2590800" y="6848475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7048500" y="6637734"/>
            <a:ext cx="4457700" cy="220266"/>
          </a:xfrm>
          <a:prstGeom prst="rect">
            <a:avLst/>
          </a:prstGeom>
          <a:ln/>
        </p:spPr>
      </p:sp>
      <p:sp>
        <p:nvSpPr>
          <p:cNvPr id="34" name="Shape 30"/>
          <p:cNvSpPr/>
          <p:nvPr/>
        </p:nvSpPr>
        <p:spPr>
          <a:xfrm>
            <a:off x="7048500" y="6848475"/>
            <a:ext cx="4457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30050" cy="661987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" y="542925"/>
            <a:ext cx="112930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CONCEPT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685800" y="714375"/>
            <a:ext cx="7136011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a Healthcare Digital Twin?</a:t>
            </a:r>
            <a:endParaRPr lang="en-US" sz="3600" dirty="0"/>
          </a:p>
        </p:txBody>
      </p:sp>
      <p:sp>
        <p:nvSpPr>
          <p:cNvPr id="38" name="Text 33"/>
          <p:cNvSpPr/>
          <p:nvPr/>
        </p:nvSpPr>
        <p:spPr>
          <a:xfrm>
            <a:off x="685800" y="1590675"/>
            <a:ext cx="1081414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healthcare digital twin is a computer model of one person's health profile that produces simulated measurements over time. TwinCare AI uses it to explore patterns and scenarios, as a prototype and not a clinically validated system.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685800" y="2295525"/>
            <a:ext cx="183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THE PARTS RELATE</a:t>
            </a:r>
            <a:endParaRPr lang="en-US" sz="975" dirty="0"/>
          </a:p>
        </p:txBody>
      </p:sp>
      <p:sp>
        <p:nvSpPr>
          <p:cNvPr id="40" name="Text 35"/>
          <p:cNvSpPr/>
          <p:nvPr/>
        </p:nvSpPr>
        <p:spPr>
          <a:xfrm>
            <a:off x="866775" y="27432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866775" y="2962275"/>
            <a:ext cx="1234827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14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Virtual patient profile</a:t>
            </a:r>
            <a:endParaRPr lang="en-US" sz="1425" dirty="0"/>
          </a:p>
        </p:txBody>
      </p:sp>
      <p:sp>
        <p:nvSpPr>
          <p:cNvPr id="42" name="Text 37"/>
          <p:cNvSpPr/>
          <p:nvPr/>
        </p:nvSpPr>
        <p:spPr>
          <a:xfrm>
            <a:off x="866775" y="3501330"/>
            <a:ext cx="1424285" cy="72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identifier, age, biological sex, activity, sleep and stress settings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3114675" y="27432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3114675" y="2962275"/>
            <a:ext cx="1289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spc="-14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Simulated data</a:t>
            </a:r>
            <a:endParaRPr lang="en-US" sz="1425" dirty="0"/>
          </a:p>
        </p:txBody>
      </p:sp>
      <p:sp>
        <p:nvSpPr>
          <p:cNvPr id="45" name="Text 40"/>
          <p:cNvSpPr/>
          <p:nvPr/>
        </p:nvSpPr>
        <p:spPr>
          <a:xfrm>
            <a:off x="3114675" y="3284190"/>
            <a:ext cx="1278880" cy="72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heart rate, BP, glucose, SpO2 and temperature telemetry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5362575" y="27432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5362575" y="2962275"/>
            <a:ext cx="1270099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14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Computational analysis</a:t>
            </a:r>
            <a:endParaRPr lang="en-US" sz="1425" dirty="0"/>
          </a:p>
        </p:txBody>
      </p:sp>
      <p:sp>
        <p:nvSpPr>
          <p:cNvPr id="48" name="Text 43"/>
          <p:cNvSpPr/>
          <p:nvPr/>
        </p:nvSpPr>
        <p:spPr>
          <a:xfrm>
            <a:off x="5362575" y="3501330"/>
            <a:ext cx="1297781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processing and feature preparation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7610475" y="27432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7610475" y="2962275"/>
            <a:ext cx="859036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14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Visualized patterns</a:t>
            </a:r>
            <a:endParaRPr lang="en-US" sz="1425" dirty="0"/>
          </a:p>
        </p:txBody>
      </p:sp>
      <p:sp>
        <p:nvSpPr>
          <p:cNvPr id="51" name="Text 46"/>
          <p:cNvSpPr/>
          <p:nvPr/>
        </p:nvSpPr>
        <p:spPr>
          <a:xfrm>
            <a:off x="7610475" y="3501330"/>
            <a:ext cx="1196578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physiological time-series charts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9858375" y="27432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9858375" y="2962275"/>
            <a:ext cx="979140" cy="45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spc="-14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Scenario exploration</a:t>
            </a:r>
            <a:endParaRPr lang="en-US" sz="1425" dirty="0"/>
          </a:p>
        </p:txBody>
      </p:sp>
      <p:sp>
        <p:nvSpPr>
          <p:cNvPr id="54" name="Text 49"/>
          <p:cNvSpPr/>
          <p:nvPr/>
        </p:nvSpPr>
        <p:spPr>
          <a:xfrm>
            <a:off x="9858375" y="3501330"/>
            <a:ext cx="1364456" cy="72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to simulated parameters and anomaly controls, where implemented</a:t>
            </a:r>
            <a:endParaRPr lang="en-US" sz="1050" dirty="0"/>
          </a:p>
        </p:txBody>
      </p:sp>
      <p:sp>
        <p:nvSpPr>
          <p:cNvPr id="55" name="Text 50"/>
          <p:cNvSpPr/>
          <p:nvPr/>
        </p:nvSpPr>
        <p:spPr>
          <a:xfrm>
            <a:off x="1066800" y="4205288"/>
            <a:ext cx="9304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3314700" y="4205288"/>
            <a:ext cx="761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5562600" y="4205288"/>
            <a:ext cx="9304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7810500" y="4205288"/>
            <a:ext cx="9304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0058400" y="4205288"/>
            <a:ext cx="761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685800" y="4562475"/>
            <a:ext cx="43066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PROTOTYPE VS. CLINICALLY VALIDATED DIGITAL TWIN</a:t>
            </a:r>
            <a:endParaRPr lang="en-US" sz="975" dirty="0"/>
          </a:p>
        </p:txBody>
      </p:sp>
      <p:sp>
        <p:nvSpPr>
          <p:cNvPr id="61" name="Text 56"/>
          <p:cNvSpPr/>
          <p:nvPr/>
        </p:nvSpPr>
        <p:spPr>
          <a:xfrm>
            <a:off x="838200" y="5048250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DIMENSION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2743200" y="5038725"/>
            <a:ext cx="2965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TWINCARE AI PROTOTYPE 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PROTOTYPE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7200900" y="4905375"/>
            <a:ext cx="279127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CLINICALLY VALIDATED DIGITAL TWIN </a:t>
            </a:r>
            <a:pPr algn="l" indent="0" marL="0">
              <a:lnSpc>
                <a:spcPts val="1350"/>
              </a:lnSpc>
              <a:buNone/>
            </a:pPr>
            <a:r>
              <a:rPr lang="en-US" sz="900" b="1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838200" y="5672138"/>
            <a:ext cx="93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2743200" y="5543550"/>
            <a:ext cx="333687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Synthetic, simulated telemetry generated from configured patient settings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7200900" y="5543550"/>
            <a:ext cx="346486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patient data, validated against clinical evidence</a:t>
            </a:r>
            <a:endParaRPr lang="en-US" sz="1200" dirty="0"/>
          </a:p>
        </p:txBody>
      </p:sp>
      <p:sp>
        <p:nvSpPr>
          <p:cNvPr id="67" name="Text 62"/>
          <p:cNvSpPr/>
          <p:nvPr/>
        </p:nvSpPr>
        <p:spPr>
          <a:xfrm>
            <a:off x="838200" y="6264473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PURPOSE</a:t>
            </a:r>
            <a:endParaRPr lang="en-US" sz="900" dirty="0"/>
          </a:p>
        </p:txBody>
      </p:sp>
      <p:sp>
        <p:nvSpPr>
          <p:cNvPr id="68" name="Text 63"/>
          <p:cNvSpPr/>
          <p:nvPr/>
        </p:nvSpPr>
        <p:spPr>
          <a:xfrm>
            <a:off x="2743200" y="6135886"/>
            <a:ext cx="358244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exploration of simulated scenarios and physiological patterns</a:t>
            </a: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7200900" y="6238726"/>
            <a:ext cx="31395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use within a validated care pathway</a:t>
            </a:r>
            <a:endParaRPr lang="en-US" sz="1200" dirty="0"/>
          </a:p>
        </p:txBody>
      </p:sp>
      <p:sp>
        <p:nvSpPr>
          <p:cNvPr id="70" name="Text 65"/>
          <p:cNvSpPr/>
          <p:nvPr/>
        </p:nvSpPr>
        <p:spPr>
          <a:xfrm>
            <a:off x="838200" y="6753969"/>
            <a:ext cx="8459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2743200" y="6728222"/>
            <a:ext cx="16177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clinically validated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7200900" y="6728222"/>
            <a:ext cx="3021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clinical validation before any use</a:t>
            </a:r>
            <a:endParaRPr lang="en-US" sz="1200" dirty="0"/>
          </a:p>
        </p:txBody>
      </p:sp>
      <p:sp>
        <p:nvSpPr>
          <p:cNvPr id="73" name="Text 68"/>
          <p:cNvSpPr/>
          <p:nvPr/>
        </p:nvSpPr>
        <p:spPr>
          <a:xfrm>
            <a:off x="838200" y="7243465"/>
            <a:ext cx="14379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MEDICAL DECISIONS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2743200" y="7217718"/>
            <a:ext cx="31416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not be used for real medical decisions</a:t>
            </a:r>
            <a:endParaRPr lang="en-US" sz="1200" dirty="0"/>
          </a:p>
        </p:txBody>
      </p:sp>
      <p:sp>
        <p:nvSpPr>
          <p:cNvPr id="75" name="Text 70"/>
          <p:cNvSpPr/>
          <p:nvPr/>
        </p:nvSpPr>
        <p:spPr>
          <a:xfrm>
            <a:off x="7200900" y="7114877"/>
            <a:ext cx="334312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and privacy evaluation required before deployment</a:t>
            </a:r>
            <a:endParaRPr lang="en-US" sz="1200" dirty="0"/>
          </a:p>
        </p:txBody>
      </p:sp>
      <p:sp>
        <p:nvSpPr>
          <p:cNvPr id="76" name="Text 71"/>
          <p:cNvSpPr/>
          <p:nvPr/>
        </p:nvSpPr>
        <p:spPr>
          <a:xfrm>
            <a:off x="10914013" y="64865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5325" y="2124075"/>
            <a:ext cx="609600" cy="42386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695325" y="2538413"/>
            <a:ext cx="6096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04925" y="2124075"/>
            <a:ext cx="2324100" cy="423863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1304925" y="2538413"/>
            <a:ext cx="23241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629025" y="2124075"/>
            <a:ext cx="4295775" cy="423863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3629025" y="2538413"/>
            <a:ext cx="4295775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5325" y="2547938"/>
            <a:ext cx="609600" cy="657225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695325" y="3195638"/>
            <a:ext cx="6096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304925" y="2547938"/>
            <a:ext cx="2324100" cy="657225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1304925" y="3195638"/>
            <a:ext cx="2324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629025" y="2547938"/>
            <a:ext cx="4295775" cy="657225"/>
          </a:xfrm>
          <a:prstGeom prst="rect">
            <a:avLst/>
          </a:prstGeom>
          <a:ln/>
        </p:spPr>
      </p:sp>
      <p:sp>
        <p:nvSpPr>
          <p:cNvPr id="14" name="Shape 11"/>
          <p:cNvSpPr/>
          <p:nvPr/>
        </p:nvSpPr>
        <p:spPr>
          <a:xfrm>
            <a:off x="3629025" y="3195638"/>
            <a:ext cx="4295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95325" y="3205163"/>
            <a:ext cx="609600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95325" y="3852863"/>
            <a:ext cx="6096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304925" y="3205163"/>
            <a:ext cx="2324100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304925" y="3852863"/>
            <a:ext cx="2324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629025" y="3205163"/>
            <a:ext cx="4295775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629025" y="3852863"/>
            <a:ext cx="4295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95325" y="3862387"/>
            <a:ext cx="609600" cy="657225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695325" y="4510088"/>
            <a:ext cx="6096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04925" y="3862387"/>
            <a:ext cx="2324100" cy="657225"/>
          </a:xfrm>
          <a:prstGeom prst="rect">
            <a:avLst/>
          </a:prstGeom>
          <a:ln/>
        </p:spPr>
      </p:sp>
      <p:sp>
        <p:nvSpPr>
          <p:cNvPr id="24" name="Shape 21"/>
          <p:cNvSpPr/>
          <p:nvPr/>
        </p:nvSpPr>
        <p:spPr>
          <a:xfrm>
            <a:off x="1304925" y="4510088"/>
            <a:ext cx="2324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3629025" y="3862387"/>
            <a:ext cx="4295775" cy="657225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3629025" y="4510088"/>
            <a:ext cx="4295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95325" y="4519613"/>
            <a:ext cx="609600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95325" y="5167313"/>
            <a:ext cx="6096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304925" y="4519613"/>
            <a:ext cx="2324100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304925" y="5167313"/>
            <a:ext cx="2324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29025" y="4519613"/>
            <a:ext cx="4295775" cy="65722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629025" y="5167313"/>
            <a:ext cx="4295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95325" y="5176838"/>
            <a:ext cx="609600" cy="657225"/>
          </a:xfrm>
          <a:prstGeom prst="rect">
            <a:avLst/>
          </a:prstGeom>
          <a:ln/>
        </p:spPr>
      </p:sp>
      <p:sp>
        <p:nvSpPr>
          <p:cNvPr id="34" name="Shape 31"/>
          <p:cNvSpPr/>
          <p:nvPr/>
        </p:nvSpPr>
        <p:spPr>
          <a:xfrm>
            <a:off x="695325" y="5824538"/>
            <a:ext cx="6096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304925" y="5176838"/>
            <a:ext cx="2324100" cy="657225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1304925" y="5824538"/>
            <a:ext cx="23241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629025" y="5176838"/>
            <a:ext cx="4295775" cy="657225"/>
          </a:xfrm>
          <a:prstGeom prst="rect">
            <a:avLst/>
          </a:prstGeom>
          <a:ln/>
        </p:spPr>
      </p:sp>
      <p:sp>
        <p:nvSpPr>
          <p:cNvPr id="38" name="Shape 35"/>
          <p:cNvSpPr/>
          <p:nvPr/>
        </p:nvSpPr>
        <p:spPr>
          <a:xfrm>
            <a:off x="3629025" y="5824538"/>
            <a:ext cx="4295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95325" y="5834063"/>
            <a:ext cx="609600" cy="37623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1304925" y="5834063"/>
            <a:ext cx="2324100" cy="37623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3629025" y="5834063"/>
            <a:ext cx="4295775" cy="376238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8429625" y="2657475"/>
            <a:ext cx="1546920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052745" y="2657475"/>
            <a:ext cx="432495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29625" y="3009900"/>
            <a:ext cx="1249710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755535" y="3009900"/>
            <a:ext cx="1249710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429625" y="3362325"/>
            <a:ext cx="1249710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755535" y="3362325"/>
            <a:ext cx="1398389" cy="276225"/>
          </a:xfrm>
          <a:prstGeom prst="roundRect">
            <a:avLst>
              <a:gd name="adj" fmla="val 2069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429625" y="4400550"/>
            <a:ext cx="952649" cy="276225"/>
          </a:xfrm>
          <a:prstGeom prst="roundRect">
            <a:avLst>
              <a:gd name="adj" fmla="val 20690"/>
            </a:avLst>
          </a:prstGeom>
          <a:solidFill>
            <a:srgbClr val="FF3DA8">
              <a:alpha val="10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458474" y="4400550"/>
            <a:ext cx="1249710" cy="276225"/>
          </a:xfrm>
          <a:prstGeom prst="roundRect">
            <a:avLst>
              <a:gd name="adj" fmla="val 20690"/>
            </a:avLst>
          </a:prstGeom>
          <a:solidFill>
            <a:srgbClr val="FF3DA8">
              <a:alpha val="10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429625" y="4752975"/>
            <a:ext cx="1175445" cy="276225"/>
          </a:xfrm>
          <a:prstGeom prst="roundRect">
            <a:avLst>
              <a:gd name="adj" fmla="val 20690"/>
            </a:avLst>
          </a:prstGeom>
          <a:solidFill>
            <a:srgbClr val="FF3DA8">
              <a:alpha val="10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681270" y="4752975"/>
            <a:ext cx="506760" cy="276225"/>
          </a:xfrm>
          <a:prstGeom prst="roundRect">
            <a:avLst>
              <a:gd name="adj" fmla="val 20690"/>
            </a:avLst>
          </a:prstGeom>
          <a:solidFill>
            <a:srgbClr val="FF3DA8">
              <a:alpha val="10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29625" y="5105400"/>
            <a:ext cx="1026914" cy="276225"/>
          </a:xfrm>
          <a:prstGeom prst="roundRect">
            <a:avLst>
              <a:gd name="adj" fmla="val 20690"/>
            </a:avLst>
          </a:prstGeom>
          <a:solidFill>
            <a:srgbClr val="FF3DA8">
              <a:alpha val="10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429625" y="6143625"/>
            <a:ext cx="1101179" cy="66675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607004" y="6143625"/>
            <a:ext cx="1324124" cy="66675"/>
          </a:xfrm>
          <a:prstGeom prst="roundRect">
            <a:avLst>
              <a:gd name="adj" fmla="val 50000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638925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685800" y="476250"/>
            <a:ext cx="31996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 · DASHBOARD CAPABILITIES</a:t>
            </a:r>
            <a:endParaRPr lang="en-US" sz="975" dirty="0"/>
          </a:p>
        </p:txBody>
      </p:sp>
      <p:sp>
        <p:nvSpPr>
          <p:cNvPr id="57" name="Text 53"/>
          <p:cNvSpPr/>
          <p:nvPr/>
        </p:nvSpPr>
        <p:spPr>
          <a:xfrm>
            <a:off x="685800" y="714375"/>
            <a:ext cx="6306294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Features of TwinCare AI</a:t>
            </a:r>
            <a:endParaRPr lang="en-US" sz="3900" dirty="0"/>
          </a:p>
        </p:txBody>
      </p:sp>
      <p:sp>
        <p:nvSpPr>
          <p:cNvPr id="58" name="Text 54"/>
          <p:cNvSpPr/>
          <p:nvPr/>
        </p:nvSpPr>
        <p:spPr>
          <a:xfrm>
            <a:off x="685800" y="1562100"/>
            <a:ext cx="911974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 of the TwinCare AI dashboard, from virtual patient configuration to telemetry export.</a:t>
            </a:r>
            <a:endParaRPr lang="en-US" sz="1500" dirty="0"/>
          </a:p>
        </p:txBody>
      </p:sp>
      <p:sp>
        <p:nvSpPr>
          <p:cNvPr id="59" name="Text 55"/>
          <p:cNvSpPr/>
          <p:nvPr/>
        </p:nvSpPr>
        <p:spPr>
          <a:xfrm>
            <a:off x="866775" y="2257425"/>
            <a:ext cx="25375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NO.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1476375" y="2257425"/>
            <a:ext cx="8459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3800475" y="2257425"/>
            <a:ext cx="13534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DETAIL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866775" y="2807940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75" dirty="0"/>
          </a:p>
        </p:txBody>
      </p:sp>
      <p:sp>
        <p:nvSpPr>
          <p:cNvPr id="63" name="Text 59"/>
          <p:cNvSpPr/>
          <p:nvPr/>
        </p:nvSpPr>
        <p:spPr>
          <a:xfrm>
            <a:off x="1476375" y="2646164"/>
            <a:ext cx="1169938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Virtual patient configuration</a:t>
            </a:r>
            <a:endParaRPr lang="en-US" sz="1350" dirty="0"/>
          </a:p>
        </p:txBody>
      </p:sp>
      <p:sp>
        <p:nvSpPr>
          <p:cNvPr id="64" name="Text 60"/>
          <p:cNvSpPr/>
          <p:nvPr/>
        </p:nvSpPr>
        <p:spPr>
          <a:xfrm>
            <a:off x="3800475" y="2566095"/>
            <a:ext cx="3538091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cohort archetypes; patient identifier, age, biological sex, activity level, sleep duration and perceived stress settings</a:t>
            </a:r>
            <a:endParaRPr lang="en-US" sz="1200" dirty="0"/>
          </a:p>
        </p:txBody>
      </p:sp>
      <p:sp>
        <p:nvSpPr>
          <p:cNvPr id="65" name="Text 61"/>
          <p:cNvSpPr/>
          <p:nvPr/>
        </p:nvSpPr>
        <p:spPr>
          <a:xfrm>
            <a:off x="866775" y="3465165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75" dirty="0"/>
          </a:p>
        </p:txBody>
      </p:sp>
      <p:sp>
        <p:nvSpPr>
          <p:cNvPr id="66" name="Text 62"/>
          <p:cNvSpPr/>
          <p:nvPr/>
        </p:nvSpPr>
        <p:spPr>
          <a:xfrm>
            <a:off x="1476375" y="3303389"/>
            <a:ext cx="1533823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synthetic telemetry</a:t>
            </a:r>
            <a:endParaRPr lang="en-US" sz="1350" dirty="0"/>
          </a:p>
        </p:txBody>
      </p:sp>
      <p:sp>
        <p:nvSpPr>
          <p:cNvPr id="67" name="Text 63"/>
          <p:cNvSpPr/>
          <p:nvPr/>
        </p:nvSpPr>
        <p:spPr>
          <a:xfrm>
            <a:off x="3800475" y="3330029"/>
            <a:ext cx="3606552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rate, blood pressure, blood glucose, oxygen saturation and temperature</a:t>
            </a:r>
            <a:endParaRPr lang="en-US" sz="1200" dirty="0"/>
          </a:p>
        </p:txBody>
      </p:sp>
      <p:sp>
        <p:nvSpPr>
          <p:cNvPr id="68" name="Text 64"/>
          <p:cNvSpPr/>
          <p:nvPr/>
        </p:nvSpPr>
        <p:spPr>
          <a:xfrm>
            <a:off x="866775" y="4122390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75" dirty="0"/>
          </a:p>
        </p:txBody>
      </p:sp>
      <p:sp>
        <p:nvSpPr>
          <p:cNvPr id="69" name="Text 65"/>
          <p:cNvSpPr/>
          <p:nvPr/>
        </p:nvSpPr>
        <p:spPr>
          <a:xfrm>
            <a:off x="1476375" y="3960614"/>
            <a:ext cx="1557189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Physiological time-series</a:t>
            </a:r>
            <a:endParaRPr lang="en-US" sz="1350" dirty="0"/>
          </a:p>
        </p:txBody>
      </p:sp>
      <p:sp>
        <p:nvSpPr>
          <p:cNvPr id="70" name="Text 66"/>
          <p:cNvSpPr/>
          <p:nvPr/>
        </p:nvSpPr>
        <p:spPr>
          <a:xfrm>
            <a:off x="3800475" y="3987254"/>
            <a:ext cx="3141315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physiological time-series charts; physiological stability and risk visualization</a:t>
            </a:r>
            <a:endParaRPr lang="en-US" sz="1200" dirty="0"/>
          </a:p>
        </p:txBody>
      </p:sp>
      <p:sp>
        <p:nvSpPr>
          <p:cNvPr id="71" name="Text 67"/>
          <p:cNvSpPr/>
          <p:nvPr/>
        </p:nvSpPr>
        <p:spPr>
          <a:xfrm>
            <a:off x="866775" y="4779615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75" dirty="0"/>
          </a:p>
        </p:txBody>
      </p:sp>
      <p:sp>
        <p:nvSpPr>
          <p:cNvPr id="72" name="Text 68"/>
          <p:cNvSpPr/>
          <p:nvPr/>
        </p:nvSpPr>
        <p:spPr>
          <a:xfrm>
            <a:off x="1476375" y="4617839"/>
            <a:ext cx="1322784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and sensor controls</a:t>
            </a:r>
            <a:endParaRPr lang="en-US" sz="1350" dirty="0"/>
          </a:p>
        </p:txBody>
      </p:sp>
      <p:sp>
        <p:nvSpPr>
          <p:cNvPr id="73" name="Text 69"/>
          <p:cNvSpPr/>
          <p:nvPr/>
        </p:nvSpPr>
        <p:spPr>
          <a:xfrm>
            <a:off x="3800475" y="4751040"/>
            <a:ext cx="374481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time-horizon and sensor-interval controls</a:t>
            </a:r>
            <a:endParaRPr lang="en-US" sz="1200" dirty="0"/>
          </a:p>
        </p:txBody>
      </p:sp>
      <p:sp>
        <p:nvSpPr>
          <p:cNvPr id="74" name="Text 70"/>
          <p:cNvSpPr/>
          <p:nvPr/>
        </p:nvSpPr>
        <p:spPr>
          <a:xfrm>
            <a:off x="866775" y="5436840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75" dirty="0"/>
          </a:p>
        </p:txBody>
      </p:sp>
      <p:sp>
        <p:nvSpPr>
          <p:cNvPr id="75" name="Text 71"/>
          <p:cNvSpPr/>
          <p:nvPr/>
        </p:nvSpPr>
        <p:spPr>
          <a:xfrm>
            <a:off x="1476375" y="5275064"/>
            <a:ext cx="1053703" cy="45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Anomaly and resimulation</a:t>
            </a:r>
            <a:endParaRPr lang="en-US" sz="1350" dirty="0"/>
          </a:p>
        </p:txBody>
      </p:sp>
      <p:sp>
        <p:nvSpPr>
          <p:cNvPr id="76" name="Text 72"/>
          <p:cNvSpPr/>
          <p:nvPr/>
        </p:nvSpPr>
        <p:spPr>
          <a:xfrm>
            <a:off x="3800475" y="5301704"/>
            <a:ext cx="3843635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Acute anomaly simulation and telemetry resimulation, where implemented</a:t>
            </a:r>
            <a:endParaRPr lang="en-US" sz="1200" dirty="0"/>
          </a:p>
        </p:txBody>
      </p:sp>
      <p:sp>
        <p:nvSpPr>
          <p:cNvPr id="77" name="Text 73"/>
          <p:cNvSpPr/>
          <p:nvPr/>
        </p:nvSpPr>
        <p:spPr>
          <a:xfrm>
            <a:off x="866775" y="6094065"/>
            <a:ext cx="1486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75" dirty="0"/>
          </a:p>
        </p:txBody>
      </p:sp>
      <p:sp>
        <p:nvSpPr>
          <p:cNvPr id="78" name="Text 74"/>
          <p:cNvSpPr/>
          <p:nvPr/>
        </p:nvSpPr>
        <p:spPr>
          <a:xfrm>
            <a:off x="1476375" y="6052245"/>
            <a:ext cx="9647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export</a:t>
            </a:r>
            <a:endParaRPr lang="en-US" sz="1350" dirty="0"/>
          </a:p>
        </p:txBody>
      </p:sp>
      <p:sp>
        <p:nvSpPr>
          <p:cNvPr id="79" name="Text 75"/>
          <p:cNvSpPr/>
          <p:nvPr/>
        </p:nvSpPr>
        <p:spPr>
          <a:xfrm>
            <a:off x="3800475" y="5958929"/>
            <a:ext cx="3773091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telemetry data export and presentation/architecture guide, where implemented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8429625" y="2390775"/>
            <a:ext cx="236845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PATIENT CONFIGURATION INPUTS</a:t>
            </a:r>
            <a:endParaRPr lang="en-US" sz="900" dirty="0"/>
          </a:p>
        </p:txBody>
      </p:sp>
      <p:sp>
        <p:nvSpPr>
          <p:cNvPr id="81" name="Text 77"/>
          <p:cNvSpPr/>
          <p:nvPr/>
        </p:nvSpPr>
        <p:spPr>
          <a:xfrm>
            <a:off x="8534400" y="2714625"/>
            <a:ext cx="13373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Patient identifier</a:t>
            </a:r>
            <a:endParaRPr lang="en-US" sz="975" dirty="0"/>
          </a:p>
        </p:txBody>
      </p:sp>
      <p:sp>
        <p:nvSpPr>
          <p:cNvPr id="82" name="Text 78"/>
          <p:cNvSpPr/>
          <p:nvPr/>
        </p:nvSpPr>
        <p:spPr>
          <a:xfrm>
            <a:off x="10157520" y="2714625"/>
            <a:ext cx="22294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</a:t>
            </a:r>
            <a:endParaRPr lang="en-US" sz="975" dirty="0"/>
          </a:p>
        </p:txBody>
      </p:sp>
      <p:sp>
        <p:nvSpPr>
          <p:cNvPr id="83" name="Text 79"/>
          <p:cNvSpPr/>
          <p:nvPr/>
        </p:nvSpPr>
        <p:spPr>
          <a:xfrm>
            <a:off x="8534400" y="3067050"/>
            <a:ext cx="1040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Biological sex</a:t>
            </a:r>
            <a:endParaRPr lang="en-US" sz="975" dirty="0"/>
          </a:p>
        </p:txBody>
      </p:sp>
      <p:sp>
        <p:nvSpPr>
          <p:cNvPr id="84" name="Text 80"/>
          <p:cNvSpPr/>
          <p:nvPr/>
        </p:nvSpPr>
        <p:spPr>
          <a:xfrm>
            <a:off x="9860310" y="3067050"/>
            <a:ext cx="1040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Activity level</a:t>
            </a:r>
            <a:endParaRPr lang="en-US" sz="975" dirty="0"/>
          </a:p>
        </p:txBody>
      </p:sp>
      <p:sp>
        <p:nvSpPr>
          <p:cNvPr id="85" name="Text 81"/>
          <p:cNvSpPr/>
          <p:nvPr/>
        </p:nvSpPr>
        <p:spPr>
          <a:xfrm>
            <a:off x="8534400" y="3419475"/>
            <a:ext cx="1040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Sleep duration</a:t>
            </a:r>
            <a:endParaRPr lang="en-US" sz="975" dirty="0"/>
          </a:p>
        </p:txBody>
      </p:sp>
      <p:sp>
        <p:nvSpPr>
          <p:cNvPr id="86" name="Text 82"/>
          <p:cNvSpPr/>
          <p:nvPr/>
        </p:nvSpPr>
        <p:spPr>
          <a:xfrm>
            <a:off x="9860310" y="3419475"/>
            <a:ext cx="11888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Perceived stress</a:t>
            </a:r>
            <a:endParaRPr lang="en-US" sz="975" dirty="0"/>
          </a:p>
        </p:txBody>
      </p:sp>
      <p:sp>
        <p:nvSpPr>
          <p:cNvPr id="87" name="Text 83"/>
          <p:cNvSpPr/>
          <p:nvPr/>
        </p:nvSpPr>
        <p:spPr>
          <a:xfrm>
            <a:off x="8429625" y="4133850"/>
            <a:ext cx="228376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TELEMETRY SIGNALS</a:t>
            </a:r>
            <a:endParaRPr lang="en-US" sz="900" dirty="0"/>
          </a:p>
        </p:txBody>
      </p:sp>
      <p:sp>
        <p:nvSpPr>
          <p:cNvPr id="88" name="Text 84"/>
          <p:cNvSpPr/>
          <p:nvPr/>
        </p:nvSpPr>
        <p:spPr>
          <a:xfrm>
            <a:off x="8534400" y="4457700"/>
            <a:ext cx="7430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Heart rate</a:t>
            </a:r>
            <a:endParaRPr lang="en-US" sz="975" dirty="0"/>
          </a:p>
        </p:txBody>
      </p:sp>
      <p:sp>
        <p:nvSpPr>
          <p:cNvPr id="89" name="Text 85"/>
          <p:cNvSpPr/>
          <p:nvPr/>
        </p:nvSpPr>
        <p:spPr>
          <a:xfrm>
            <a:off x="9563249" y="4457700"/>
            <a:ext cx="104016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Blood pressure</a:t>
            </a:r>
            <a:endParaRPr lang="en-US" sz="975" dirty="0"/>
          </a:p>
        </p:txBody>
      </p:sp>
      <p:sp>
        <p:nvSpPr>
          <p:cNvPr id="90" name="Text 86"/>
          <p:cNvSpPr/>
          <p:nvPr/>
        </p:nvSpPr>
        <p:spPr>
          <a:xfrm>
            <a:off x="8534400" y="4810125"/>
            <a:ext cx="96589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Blood glucose</a:t>
            </a:r>
            <a:endParaRPr lang="en-US" sz="975" dirty="0"/>
          </a:p>
        </p:txBody>
      </p:sp>
      <p:sp>
        <p:nvSpPr>
          <p:cNvPr id="91" name="Text 87"/>
          <p:cNvSpPr/>
          <p:nvPr/>
        </p:nvSpPr>
        <p:spPr>
          <a:xfrm>
            <a:off x="9786045" y="4810125"/>
            <a:ext cx="2972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SpO2</a:t>
            </a:r>
            <a:endParaRPr lang="en-US" sz="975" dirty="0"/>
          </a:p>
        </p:txBody>
      </p:sp>
      <p:sp>
        <p:nvSpPr>
          <p:cNvPr id="92" name="Text 88"/>
          <p:cNvSpPr/>
          <p:nvPr/>
        </p:nvSpPr>
        <p:spPr>
          <a:xfrm>
            <a:off x="8534400" y="5162550"/>
            <a:ext cx="8173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</a:t>
            </a:r>
            <a:endParaRPr lang="en-US" sz="975" dirty="0"/>
          </a:p>
        </p:txBody>
      </p:sp>
      <p:sp>
        <p:nvSpPr>
          <p:cNvPr id="93" name="Text 89"/>
          <p:cNvSpPr/>
          <p:nvPr/>
        </p:nvSpPr>
        <p:spPr>
          <a:xfrm>
            <a:off x="8429625" y="5876925"/>
            <a:ext cx="14379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SCENARIO CONTROLS</a:t>
            </a:r>
            <a:endParaRPr lang="en-US" sz="900" dirty="0"/>
          </a:p>
        </p:txBody>
      </p:sp>
      <p:sp>
        <p:nvSpPr>
          <p:cNvPr id="94" name="Text 90"/>
          <p:cNvSpPr/>
          <p:nvPr/>
        </p:nvSpPr>
        <p:spPr>
          <a:xfrm>
            <a:off x="8534400" y="6200775"/>
            <a:ext cx="8916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 horizon</a:t>
            </a:r>
            <a:endParaRPr lang="en-US" sz="975" dirty="0"/>
          </a:p>
        </p:txBody>
      </p:sp>
      <p:sp>
        <p:nvSpPr>
          <p:cNvPr id="95" name="Text 91"/>
          <p:cNvSpPr/>
          <p:nvPr/>
        </p:nvSpPr>
        <p:spPr>
          <a:xfrm>
            <a:off x="9711779" y="6200775"/>
            <a:ext cx="11145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Sensor interval</a:t>
            </a:r>
            <a:endParaRPr lang="en-US" sz="975" dirty="0"/>
          </a:p>
        </p:txBody>
      </p:sp>
      <p:sp>
        <p:nvSpPr>
          <p:cNvPr id="96" name="Text 92"/>
          <p:cNvSpPr/>
          <p:nvPr/>
        </p:nvSpPr>
        <p:spPr>
          <a:xfrm>
            <a:off x="8534400" y="6553200"/>
            <a:ext cx="13373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Anomaly simulation</a:t>
            </a:r>
            <a:endParaRPr lang="en-US" sz="975" dirty="0"/>
          </a:p>
        </p:txBody>
      </p:sp>
      <p:sp>
        <p:nvSpPr>
          <p:cNvPr id="97" name="Text 93"/>
          <p:cNvSpPr/>
          <p:nvPr/>
        </p:nvSpPr>
        <p:spPr>
          <a:xfrm>
            <a:off x="10157520" y="6496050"/>
            <a:ext cx="134868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Resimulation</a:t>
            </a:r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75" dirty="0"/>
          </a:p>
        </p:txBody>
      </p:sp>
      <p:sp>
        <p:nvSpPr>
          <p:cNvPr id="98" name="Text 94"/>
          <p:cNvSpPr/>
          <p:nvPr/>
        </p:nvSpPr>
        <p:spPr>
          <a:xfrm>
            <a:off x="8534400" y="6905625"/>
            <a:ext cx="11145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 data export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70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828675" y="3962400"/>
            <a:ext cx="1068735" cy="238125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53365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/>
          </a:solidFill>
          <a:ln w="9525">
            <a:solidFill>
              <a:srgbClr val="FF3DA8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7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676525" y="3962400"/>
            <a:ext cx="931664" cy="238125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38150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7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657725" y="2865090"/>
            <a:ext cx="529679" cy="195411"/>
          </a:xfrm>
          <a:prstGeom prst="roundRect">
            <a:avLst>
              <a:gd name="adj" fmla="val 24372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57725" y="3117652"/>
            <a:ext cx="466725" cy="195411"/>
          </a:xfrm>
          <a:prstGeom prst="roundRect">
            <a:avLst>
              <a:gd name="adj" fmla="val 24372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24375" y="3962400"/>
            <a:ext cx="1068735" cy="238125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2935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7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72225" y="3962400"/>
            <a:ext cx="1156395" cy="238125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7720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7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3425" y="3056037"/>
            <a:ext cx="529679" cy="195411"/>
          </a:xfrm>
          <a:prstGeom prst="roundRect">
            <a:avLst>
              <a:gd name="adj" fmla="val 24372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0075" y="3962400"/>
            <a:ext cx="1068735" cy="238125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925050" y="1771650"/>
            <a:ext cx="1562100" cy="2571750"/>
          </a:xfrm>
          <a:prstGeom prst="roundRect">
            <a:avLst>
              <a:gd name="adj" fmla="val 7317"/>
            </a:avLst>
          </a:prstGeom>
          <a:solidFill>
            <a:srgbClr val="26143F"/>
          </a:solidFill>
          <a:ln w="9525">
            <a:solidFill>
              <a:srgbClr val="FF3DA8"/>
            </a:solidFill>
            <a:prstDash val="solid"/>
          </a:ln>
          <a:effectLst>
            <a:outerShdw sx="100000" sy="100000" kx="0" ky="0" algn="bl" rotWithShape="0" blurRad="342900" dist="50800" dir="16200000">
              <a:srgbClr val="ff3da8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201275" y="3056037"/>
            <a:ext cx="718245" cy="195411"/>
          </a:xfrm>
          <a:prstGeom prst="roundRect">
            <a:avLst>
              <a:gd name="adj" fmla="val 24372"/>
            </a:avLst>
          </a:prstGeom>
          <a:solidFill>
            <a:srgbClr val="22D3EE">
              <a:alpha val="10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067925" y="3962400"/>
            <a:ext cx="1068735" cy="238125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3925" y="5553075"/>
            <a:ext cx="1068735" cy="238125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087910" y="5553075"/>
            <a:ext cx="931664" cy="238125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114824" y="5553075"/>
            <a:ext cx="744885" cy="238125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010025" y="5248275"/>
            <a:ext cx="3762375" cy="685800"/>
          </a:xfrm>
          <a:prstGeom prst="rect">
            <a:avLst/>
          </a:prstGeom>
          <a:ln/>
        </p:spPr>
      </p:sp>
      <p:sp>
        <p:nvSpPr>
          <p:cNvPr id="24" name="Shape 20"/>
          <p:cNvSpPr/>
          <p:nvPr/>
        </p:nvSpPr>
        <p:spPr>
          <a:xfrm>
            <a:off x="4010025" y="5248275"/>
            <a:ext cx="9525" cy="685800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7762875" y="5248275"/>
            <a:ext cx="3762375" cy="685800"/>
          </a:xfrm>
          <a:prstGeom prst="rect">
            <a:avLst/>
          </a:prstGeom>
          <a:ln/>
        </p:spPr>
      </p:sp>
      <p:sp>
        <p:nvSpPr>
          <p:cNvPr id="26" name="Shape 22"/>
          <p:cNvSpPr/>
          <p:nvPr/>
        </p:nvSpPr>
        <p:spPr>
          <a:xfrm>
            <a:off x="7762875" y="5248275"/>
            <a:ext cx="9525" cy="685800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30050" cy="66198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5800" y="504825"/>
            <a:ext cx="29173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ARCHITECTURE · DATA FLOW</a:t>
            </a:r>
            <a:endParaRPr lang="en-US" sz="975" dirty="0"/>
          </a:p>
        </p:txBody>
      </p:sp>
      <p:sp>
        <p:nvSpPr>
          <p:cNvPr id="29" name="Text 24"/>
          <p:cNvSpPr/>
          <p:nvPr/>
        </p:nvSpPr>
        <p:spPr>
          <a:xfrm>
            <a:off x="685800" y="685800"/>
            <a:ext cx="631834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TwinCare AI System Architecture</a:t>
            </a:r>
            <a:endParaRPr lang="en-US" sz="3300" dirty="0"/>
          </a:p>
        </p:txBody>
      </p:sp>
      <p:sp>
        <p:nvSpPr>
          <p:cNvPr id="30" name="Text 25"/>
          <p:cNvSpPr/>
          <p:nvPr/>
        </p:nvSpPr>
        <p:spPr>
          <a:xfrm>
            <a:off x="8191500" y="790575"/>
            <a:ext cx="3094286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moves left to right through six layers. Telemetry is simulated; one analytical layer remains future scope.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2867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28675" y="2171700"/>
            <a:ext cx="8785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inputs</a:t>
            </a:r>
            <a:endParaRPr lang="en-US" sz="1275" dirty="0"/>
          </a:p>
        </p:txBody>
      </p:sp>
      <p:sp>
        <p:nvSpPr>
          <p:cNvPr id="33" name="Text 28"/>
          <p:cNvSpPr/>
          <p:nvPr/>
        </p:nvSpPr>
        <p:spPr>
          <a:xfrm>
            <a:off x="828675" y="2429321"/>
            <a:ext cx="1053554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patient configuration layer</a:t>
            </a:r>
            <a:endParaRPr lang="en-US" sz="938" dirty="0"/>
          </a:p>
        </p:txBody>
      </p:sp>
      <p:sp>
        <p:nvSpPr>
          <p:cNvPr id="34" name="Text 29"/>
          <p:cNvSpPr/>
          <p:nvPr/>
        </p:nvSpPr>
        <p:spPr>
          <a:xfrm>
            <a:off x="962025" y="2846040"/>
            <a:ext cx="1087041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identifier, age, biological sex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962025" y="3230017"/>
            <a:ext cx="855166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Activity, sleep, stress</a:t>
            </a:r>
            <a:endParaRPr lang="en-US" sz="975" dirty="0"/>
          </a:p>
        </p:txBody>
      </p:sp>
      <p:sp>
        <p:nvSpPr>
          <p:cNvPr id="36" name="Text 31"/>
          <p:cNvSpPr/>
          <p:nvPr/>
        </p:nvSpPr>
        <p:spPr>
          <a:xfrm>
            <a:off x="962025" y="3613993"/>
            <a:ext cx="841474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cohort archetypes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1047750" y="4010025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267652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2676525" y="2171700"/>
            <a:ext cx="839093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Synthetic telemetry generation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2676525" y="2811214"/>
            <a:ext cx="9255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Generation layer</a:t>
            </a:r>
            <a:endParaRPr lang="en-US" sz="938" dirty="0"/>
          </a:p>
        </p:txBody>
      </p:sp>
      <p:sp>
        <p:nvSpPr>
          <p:cNvPr id="41" name="Text 36"/>
          <p:cNvSpPr/>
          <p:nvPr/>
        </p:nvSpPr>
        <p:spPr>
          <a:xfrm>
            <a:off x="2809875" y="3067199"/>
            <a:ext cx="58653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rate</a:t>
            </a:r>
            <a:endParaRPr lang="en-US" sz="975" dirty="0"/>
          </a:p>
        </p:txBody>
      </p:sp>
      <p:sp>
        <p:nvSpPr>
          <p:cNvPr id="42" name="Text 37"/>
          <p:cNvSpPr/>
          <p:nvPr/>
        </p:nvSpPr>
        <p:spPr>
          <a:xfrm>
            <a:off x="2809875" y="3287762"/>
            <a:ext cx="88344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Blood pressure</a:t>
            </a:r>
            <a:endParaRPr lang="en-US" sz="975" dirty="0"/>
          </a:p>
        </p:txBody>
      </p:sp>
      <p:sp>
        <p:nvSpPr>
          <p:cNvPr id="43" name="Text 38"/>
          <p:cNvSpPr/>
          <p:nvPr/>
        </p:nvSpPr>
        <p:spPr>
          <a:xfrm>
            <a:off x="2809875" y="3508325"/>
            <a:ext cx="882402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Glucose, SpO₂, temperature</a:t>
            </a:r>
            <a:endParaRPr lang="en-US" sz="975" dirty="0"/>
          </a:p>
        </p:txBody>
      </p:sp>
      <p:sp>
        <p:nvSpPr>
          <p:cNvPr id="44" name="Text 39"/>
          <p:cNvSpPr/>
          <p:nvPr/>
        </p:nvSpPr>
        <p:spPr>
          <a:xfrm>
            <a:off x="2895600" y="4010025"/>
            <a:ext cx="6173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452437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4524375" y="2171700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processing</a:t>
            </a:r>
            <a:endParaRPr lang="en-US" sz="1275" dirty="0"/>
          </a:p>
        </p:txBody>
      </p:sp>
      <p:sp>
        <p:nvSpPr>
          <p:cNvPr id="47" name="Text 42"/>
          <p:cNvSpPr/>
          <p:nvPr/>
        </p:nvSpPr>
        <p:spPr>
          <a:xfrm>
            <a:off x="4524375" y="2429321"/>
            <a:ext cx="1105495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preparation layer</a:t>
            </a:r>
            <a:endParaRPr lang="en-US" sz="938" dirty="0"/>
          </a:p>
        </p:txBody>
      </p:sp>
      <p:sp>
        <p:nvSpPr>
          <p:cNvPr id="48" name="Text 43"/>
          <p:cNvSpPr/>
          <p:nvPr/>
        </p:nvSpPr>
        <p:spPr>
          <a:xfrm>
            <a:off x="4733925" y="2893665"/>
            <a:ext cx="3772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</a:t>
            </a:r>
            <a:endParaRPr lang="en-US" sz="825" dirty="0"/>
          </a:p>
        </p:txBody>
      </p:sp>
      <p:sp>
        <p:nvSpPr>
          <p:cNvPr id="49" name="Text 44"/>
          <p:cNvSpPr/>
          <p:nvPr/>
        </p:nvSpPr>
        <p:spPr>
          <a:xfrm>
            <a:off x="4733925" y="3146227"/>
            <a:ext cx="3143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NumPy</a:t>
            </a:r>
            <a:endParaRPr lang="en-US" sz="825" dirty="0"/>
          </a:p>
        </p:txBody>
      </p:sp>
      <p:sp>
        <p:nvSpPr>
          <p:cNvPr id="50" name="Text 45"/>
          <p:cNvSpPr/>
          <p:nvPr/>
        </p:nvSpPr>
        <p:spPr>
          <a:xfrm>
            <a:off x="4743450" y="4010025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637222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372225" y="2171700"/>
            <a:ext cx="969615" cy="400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Analytical components</a:t>
            </a:r>
            <a:endParaRPr lang="en-US" sz="1275" dirty="0"/>
          </a:p>
        </p:txBody>
      </p:sp>
      <p:sp>
        <p:nvSpPr>
          <p:cNvPr id="53" name="Text 48"/>
          <p:cNvSpPr/>
          <p:nvPr/>
        </p:nvSpPr>
        <p:spPr>
          <a:xfrm>
            <a:off x="6372225" y="2620268"/>
            <a:ext cx="892969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analytical or ML components</a:t>
            </a:r>
            <a:endParaRPr lang="en-US" sz="938" dirty="0"/>
          </a:p>
        </p:txBody>
      </p:sp>
      <p:sp>
        <p:nvSpPr>
          <p:cNvPr id="54" name="Text 49"/>
          <p:cNvSpPr/>
          <p:nvPr/>
        </p:nvSpPr>
        <p:spPr>
          <a:xfrm>
            <a:off x="6505575" y="3197721"/>
            <a:ext cx="1090166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scikit-learn: not confirmed as used</a:t>
            </a:r>
            <a:endParaRPr lang="en-US" sz="975" dirty="0"/>
          </a:p>
        </p:txBody>
      </p:sp>
      <p:sp>
        <p:nvSpPr>
          <p:cNvPr id="55" name="Text 50"/>
          <p:cNvSpPr/>
          <p:nvPr/>
        </p:nvSpPr>
        <p:spPr>
          <a:xfrm>
            <a:off x="6505575" y="3581698"/>
            <a:ext cx="1047452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Listed as future work until verified</a:t>
            </a:r>
            <a:endParaRPr lang="en-US" sz="975" dirty="0"/>
          </a:p>
        </p:txBody>
      </p:sp>
      <p:sp>
        <p:nvSpPr>
          <p:cNvPr id="56" name="Text 51"/>
          <p:cNvSpPr/>
          <p:nvPr/>
        </p:nvSpPr>
        <p:spPr>
          <a:xfrm>
            <a:off x="6610350" y="4010025"/>
            <a:ext cx="82302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822007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8220075" y="2171700"/>
            <a:ext cx="959048" cy="400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&amp; risk visualization</a:t>
            </a:r>
            <a:endParaRPr lang="en-US" sz="1275" dirty="0"/>
          </a:p>
        </p:txBody>
      </p:sp>
      <p:sp>
        <p:nvSpPr>
          <p:cNvPr id="59" name="Text 54"/>
          <p:cNvSpPr/>
          <p:nvPr/>
        </p:nvSpPr>
        <p:spPr>
          <a:xfrm>
            <a:off x="8220075" y="2620268"/>
            <a:ext cx="106962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Physiological trend and risk layer</a:t>
            </a:r>
            <a:endParaRPr lang="en-US" sz="938" dirty="0"/>
          </a:p>
        </p:txBody>
      </p:sp>
      <p:sp>
        <p:nvSpPr>
          <p:cNvPr id="60" name="Text 55"/>
          <p:cNvSpPr/>
          <p:nvPr/>
        </p:nvSpPr>
        <p:spPr>
          <a:xfrm>
            <a:off x="8429625" y="3084612"/>
            <a:ext cx="3772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</a:t>
            </a:r>
            <a:endParaRPr lang="en-US" sz="825" dirty="0"/>
          </a:p>
        </p:txBody>
      </p:sp>
      <p:sp>
        <p:nvSpPr>
          <p:cNvPr id="61" name="Text 56"/>
          <p:cNvSpPr/>
          <p:nvPr/>
        </p:nvSpPr>
        <p:spPr>
          <a:xfrm>
            <a:off x="8353425" y="3308598"/>
            <a:ext cx="1054150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physiological time series</a:t>
            </a:r>
            <a:endParaRPr lang="en-US" sz="975" dirty="0"/>
          </a:p>
        </p:txBody>
      </p:sp>
      <p:sp>
        <p:nvSpPr>
          <p:cNvPr id="62" name="Text 57"/>
          <p:cNvSpPr/>
          <p:nvPr/>
        </p:nvSpPr>
        <p:spPr>
          <a:xfrm>
            <a:off x="8353425" y="3855988"/>
            <a:ext cx="100131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visualization</a:t>
            </a:r>
            <a:endParaRPr lang="en-US" sz="975" dirty="0"/>
          </a:p>
        </p:txBody>
      </p:sp>
      <p:sp>
        <p:nvSpPr>
          <p:cNvPr id="63" name="Text 58"/>
          <p:cNvSpPr/>
          <p:nvPr/>
        </p:nvSpPr>
        <p:spPr>
          <a:xfrm>
            <a:off x="8439150" y="4010025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64" name="Text 59"/>
          <p:cNvSpPr/>
          <p:nvPr/>
        </p:nvSpPr>
        <p:spPr>
          <a:xfrm>
            <a:off x="10067925" y="1943100"/>
            <a:ext cx="16921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10067925" y="2171700"/>
            <a:ext cx="826443" cy="400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75" b="1" spc="-1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 dashboard</a:t>
            </a:r>
            <a:endParaRPr lang="en-US" sz="1275" dirty="0"/>
          </a:p>
        </p:txBody>
      </p:sp>
      <p:sp>
        <p:nvSpPr>
          <p:cNvPr id="66" name="Text 61"/>
          <p:cNvSpPr/>
          <p:nvPr/>
        </p:nvSpPr>
        <p:spPr>
          <a:xfrm>
            <a:off x="10067925" y="2620268"/>
            <a:ext cx="894904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interaction interface</a:t>
            </a:r>
            <a:endParaRPr lang="en-US" sz="938" dirty="0"/>
          </a:p>
        </p:txBody>
      </p:sp>
      <p:sp>
        <p:nvSpPr>
          <p:cNvPr id="67" name="Text 62"/>
          <p:cNvSpPr/>
          <p:nvPr/>
        </p:nvSpPr>
        <p:spPr>
          <a:xfrm>
            <a:off x="10277475" y="3084612"/>
            <a:ext cx="56584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Streamlit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10201275" y="3308598"/>
            <a:ext cx="638770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975" dirty="0"/>
          </a:p>
        </p:txBody>
      </p:sp>
      <p:sp>
        <p:nvSpPr>
          <p:cNvPr id="69" name="Text 64"/>
          <p:cNvSpPr/>
          <p:nvPr/>
        </p:nvSpPr>
        <p:spPr>
          <a:xfrm>
            <a:off x="10201275" y="3692575"/>
            <a:ext cx="1002804" cy="31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and anomaly controls</a:t>
            </a:r>
            <a:endParaRPr lang="en-US" sz="975" dirty="0"/>
          </a:p>
        </p:txBody>
      </p:sp>
      <p:sp>
        <p:nvSpPr>
          <p:cNvPr id="70" name="Text 65"/>
          <p:cNvSpPr/>
          <p:nvPr/>
        </p:nvSpPr>
        <p:spPr>
          <a:xfrm>
            <a:off x="10201275" y="4076551"/>
            <a:ext cx="1071116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75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Resimulation, data export (where implemented)</a:t>
            </a:r>
            <a:endParaRPr lang="en-US" sz="975" dirty="0"/>
          </a:p>
        </p:txBody>
      </p:sp>
      <p:sp>
        <p:nvSpPr>
          <p:cNvPr id="71" name="Text 66"/>
          <p:cNvSpPr/>
          <p:nvPr/>
        </p:nvSpPr>
        <p:spPr>
          <a:xfrm>
            <a:off x="10287000" y="4010025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923925" y="5257800"/>
            <a:ext cx="8459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KEY</a:t>
            </a:r>
            <a:endParaRPr lang="en-US" sz="900" dirty="0"/>
          </a:p>
        </p:txBody>
      </p:sp>
      <p:sp>
        <p:nvSpPr>
          <p:cNvPr id="73" name="Text 68"/>
          <p:cNvSpPr/>
          <p:nvPr/>
        </p:nvSpPr>
        <p:spPr>
          <a:xfrm>
            <a:off x="1143000" y="5600700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2306985" y="5600700"/>
            <a:ext cx="6173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3352949" y="5600700"/>
            <a:ext cx="4115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</a:t>
            </a:r>
            <a:endParaRPr lang="en-US" sz="750" dirty="0"/>
          </a:p>
        </p:txBody>
      </p:sp>
      <p:sp>
        <p:nvSpPr>
          <p:cNvPr id="76" name="Text 71"/>
          <p:cNvSpPr/>
          <p:nvPr/>
        </p:nvSpPr>
        <p:spPr>
          <a:xfrm>
            <a:off x="4248150" y="5257800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</a:t>
            </a:r>
            <a:endParaRPr lang="en-US" sz="900" dirty="0"/>
          </a:p>
        </p:txBody>
      </p:sp>
      <p:sp>
        <p:nvSpPr>
          <p:cNvPr id="77" name="Text 72"/>
          <p:cNvSpPr/>
          <p:nvPr/>
        </p:nvSpPr>
        <p:spPr>
          <a:xfrm>
            <a:off x="4248150" y="5505450"/>
            <a:ext cx="33273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arrows show data passing from one layer to the next. The dashed return path carries user scenario controls back to patient configuration.</a:t>
            </a:r>
            <a:endParaRPr lang="en-US" sz="1125" dirty="0"/>
          </a:p>
        </p:txBody>
      </p:sp>
      <p:sp>
        <p:nvSpPr>
          <p:cNvPr id="78" name="Text 73"/>
          <p:cNvSpPr/>
          <p:nvPr/>
        </p:nvSpPr>
        <p:spPr>
          <a:xfrm>
            <a:off x="8001000" y="5257800"/>
            <a:ext cx="160719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TELEMETRY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8001000" y="5505450"/>
            <a:ext cx="310306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rate, blood pressure, glucose, SpO₂ and temperature are generated synthetically and labelled as simulated output.</a:t>
            </a:r>
            <a:endParaRPr lang="en-US" sz="1125" dirty="0"/>
          </a:p>
        </p:txBody>
      </p:sp>
      <p:sp>
        <p:nvSpPr>
          <p:cNvPr id="80" name="Text 75"/>
          <p:cNvSpPr/>
          <p:nvPr/>
        </p:nvSpPr>
        <p:spPr>
          <a:xfrm>
            <a:off x="10914013" y="64865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4248150"/>
            <a:ext cx="1205359" cy="252413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200650"/>
            <a:ext cx="1301948" cy="252413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00750"/>
            <a:ext cx="3124200" cy="285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438650" y="6172200"/>
            <a:ext cx="95250" cy="76200"/>
          </a:xfrm>
          <a:prstGeom prst="rect">
            <a:avLst/>
          </a:prstGeom>
          <a:ln/>
        </p:spPr>
      </p:sp>
      <p:sp>
        <p:nvSpPr>
          <p:cNvPr id="7" name="Shape 3"/>
          <p:cNvSpPr/>
          <p:nvPr/>
        </p:nvSpPr>
        <p:spPr>
          <a:xfrm>
            <a:off x="4438650" y="6172200"/>
            <a:ext cx="95250" cy="76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4"/>
          <p:cNvSpPr/>
          <p:nvPr/>
        </p:nvSpPr>
        <p:spPr>
          <a:xfrm>
            <a:off x="4676775" y="2725489"/>
            <a:ext cx="1205359" cy="252413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676775" y="3601789"/>
            <a:ext cx="1205359" cy="252413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619875" y="3171825"/>
            <a:ext cx="2286000" cy="438150"/>
          </a:xfrm>
          <a:prstGeom prst="roundRect">
            <a:avLst>
              <a:gd name="adj" fmla="val 21739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76775" y="4478089"/>
            <a:ext cx="1205359" cy="252413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19875" y="4048125"/>
            <a:ext cx="2276475" cy="438150"/>
          </a:xfrm>
          <a:prstGeom prst="roundRect">
            <a:avLst>
              <a:gd name="adj" fmla="val 21739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029700" y="4048125"/>
            <a:ext cx="2276475" cy="438150"/>
          </a:xfrm>
          <a:prstGeom prst="roundRect">
            <a:avLst>
              <a:gd name="adj" fmla="val 21739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76775" y="5354389"/>
            <a:ext cx="1205359" cy="252413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19875" y="4924425"/>
            <a:ext cx="2286000" cy="438150"/>
          </a:xfrm>
          <a:prstGeom prst="roundRect">
            <a:avLst>
              <a:gd name="adj" fmla="val 21739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76750" y="5676900"/>
            <a:ext cx="7029450" cy="685800"/>
          </a:xfrm>
          <a:prstGeom prst="roundRect">
            <a:avLst>
              <a:gd name="adj" fmla="val 19444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676775" y="6133654"/>
            <a:ext cx="1301948" cy="252413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19875" y="5800725"/>
            <a:ext cx="4686300" cy="438150"/>
          </a:xfrm>
          <a:prstGeom prst="roundRect">
            <a:avLst>
              <a:gd name="adj" fmla="val 21739"/>
            </a:avLst>
          </a:prstGeom>
          <a:ln w="9525">
            <a:solidFill>
              <a:srgbClr val="6B3FA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30050" cy="6619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" y="504825"/>
            <a:ext cx="150584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BUILD STACK</a:t>
            </a:r>
            <a:endParaRPr lang="en-US" sz="975" dirty="0"/>
          </a:p>
        </p:txBody>
      </p:sp>
      <p:sp>
        <p:nvSpPr>
          <p:cNvPr id="21" name="Text 16"/>
          <p:cNvSpPr/>
          <p:nvPr/>
        </p:nvSpPr>
        <p:spPr>
          <a:xfrm>
            <a:off x="685800" y="885825"/>
            <a:ext cx="413429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22" name="Text 17"/>
          <p:cNvSpPr/>
          <p:nvPr/>
        </p:nvSpPr>
        <p:spPr>
          <a:xfrm>
            <a:off x="685800" y="1581150"/>
            <a:ext cx="646643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Languages, frameworks and libraries behind the TwinCare AI prototype, grouped by layer.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09600" y="2028825"/>
            <a:ext cx="1546920" cy="170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0" b="1" spc="-420" kern="0" dirty="0">
                <a:solidFill>
                  <a:srgbClr val="FF3D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500" dirty="0"/>
          </a:p>
        </p:txBody>
      </p:sp>
      <p:sp>
        <p:nvSpPr>
          <p:cNvPr id="24" name="Text 19"/>
          <p:cNvSpPr/>
          <p:nvPr/>
        </p:nvSpPr>
        <p:spPr>
          <a:xfrm>
            <a:off x="685800" y="3781425"/>
            <a:ext cx="26573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NAMED TECHNOLOGIES · 5 LAYERS</a:t>
            </a:r>
            <a:endParaRPr lang="en-US" sz="975" dirty="0"/>
          </a:p>
        </p:txBody>
      </p:sp>
      <p:sp>
        <p:nvSpPr>
          <p:cNvPr id="25" name="Text 20"/>
          <p:cNvSpPr/>
          <p:nvPr/>
        </p:nvSpPr>
        <p:spPr>
          <a:xfrm>
            <a:off x="933450" y="4295775"/>
            <a:ext cx="852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685800" y="4562475"/>
            <a:ext cx="3009156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Streamlit, Pandas, NumPy and Plotly are used in the project.</a:t>
            </a:r>
            <a:endParaRPr lang="en-US" sz="1125" dirty="0"/>
          </a:p>
        </p:txBody>
      </p:sp>
      <p:sp>
        <p:nvSpPr>
          <p:cNvPr id="27" name="Text 22"/>
          <p:cNvSpPr/>
          <p:nvPr/>
        </p:nvSpPr>
        <p:spPr>
          <a:xfrm>
            <a:off x="952500" y="5248275"/>
            <a:ext cx="93047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685800" y="5514975"/>
            <a:ext cx="290646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ML library is confirmed in the brief. Add one only if it is present in the code.</a:t>
            </a:r>
            <a:endParaRPr lang="en-US" sz="1125" dirty="0"/>
          </a:p>
        </p:txBody>
      </p:sp>
      <p:sp>
        <p:nvSpPr>
          <p:cNvPr id="29" name="Text 24"/>
          <p:cNvSpPr/>
          <p:nvPr/>
        </p:nvSpPr>
        <p:spPr>
          <a:xfrm>
            <a:off x="4676775" y="2060823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 · CORE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676775" y="2270373"/>
            <a:ext cx="1442591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programming language</a:t>
            </a:r>
            <a:endParaRPr lang="en-US" sz="1275" dirty="0"/>
          </a:p>
        </p:txBody>
      </p:sp>
      <p:sp>
        <p:nvSpPr>
          <p:cNvPr id="31" name="Text 26"/>
          <p:cNvSpPr/>
          <p:nvPr/>
        </p:nvSpPr>
        <p:spPr>
          <a:xfrm>
            <a:off x="4924425" y="2773114"/>
            <a:ext cx="852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6781800" y="2303413"/>
            <a:ext cx="63668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425" dirty="0"/>
          </a:p>
        </p:txBody>
      </p:sp>
      <p:sp>
        <p:nvSpPr>
          <p:cNvPr id="33" name="Text 28"/>
          <p:cNvSpPr/>
          <p:nvPr/>
        </p:nvSpPr>
        <p:spPr>
          <a:xfrm>
            <a:off x="6781800" y="2559100"/>
            <a:ext cx="98077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FF9A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LANGUAGE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4676775" y="2937123"/>
            <a:ext cx="6767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APP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676775" y="3146673"/>
            <a:ext cx="1265188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application framework</a:t>
            </a:r>
            <a:endParaRPr lang="en-US" sz="1275" dirty="0"/>
          </a:p>
        </p:txBody>
      </p:sp>
      <p:sp>
        <p:nvSpPr>
          <p:cNvPr id="36" name="Text 31"/>
          <p:cNvSpPr/>
          <p:nvPr/>
        </p:nvSpPr>
        <p:spPr>
          <a:xfrm>
            <a:off x="4924425" y="3649414"/>
            <a:ext cx="852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6781800" y="3179713"/>
            <a:ext cx="8017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Streamlit</a:t>
            </a:r>
            <a:endParaRPr lang="en-US" sz="1425" dirty="0"/>
          </a:p>
        </p:txBody>
      </p:sp>
      <p:sp>
        <p:nvSpPr>
          <p:cNvPr id="38" name="Text 33"/>
          <p:cNvSpPr/>
          <p:nvPr/>
        </p:nvSpPr>
        <p:spPr>
          <a:xfrm>
            <a:off x="6781800" y="3435400"/>
            <a:ext cx="9053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UI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4676775" y="3813423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 · DATA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676775" y="4022973"/>
            <a:ext cx="1763762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manipulation and analysis</a:t>
            </a:r>
            <a:endParaRPr lang="en-US" sz="1275" dirty="0"/>
          </a:p>
        </p:txBody>
      </p:sp>
      <p:sp>
        <p:nvSpPr>
          <p:cNvPr id="41" name="Text 36"/>
          <p:cNvSpPr/>
          <p:nvPr/>
        </p:nvSpPr>
        <p:spPr>
          <a:xfrm>
            <a:off x="4924425" y="4525714"/>
            <a:ext cx="852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6781800" y="4056013"/>
            <a:ext cx="63743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Pandas</a:t>
            </a:r>
            <a:endParaRPr lang="en-US" sz="1425" dirty="0"/>
          </a:p>
        </p:txBody>
      </p:sp>
      <p:sp>
        <p:nvSpPr>
          <p:cNvPr id="43" name="Text 38"/>
          <p:cNvSpPr/>
          <p:nvPr/>
        </p:nvSpPr>
        <p:spPr>
          <a:xfrm>
            <a:off x="6781800" y="4311700"/>
            <a:ext cx="12824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MANIPULATION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9191625" y="4056013"/>
            <a:ext cx="60736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NumPy</a:t>
            </a:r>
            <a:endParaRPr lang="en-US" sz="1425" dirty="0"/>
          </a:p>
        </p:txBody>
      </p:sp>
      <p:sp>
        <p:nvSpPr>
          <p:cNvPr id="45" name="Text 40"/>
          <p:cNvSpPr/>
          <p:nvPr/>
        </p:nvSpPr>
        <p:spPr>
          <a:xfrm>
            <a:off x="9191625" y="4311700"/>
            <a:ext cx="13579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NUMERICAL ANALYSIS</a:t>
            </a:r>
            <a:endParaRPr lang="en-US" sz="825" dirty="0"/>
          </a:p>
        </p:txBody>
      </p:sp>
      <p:sp>
        <p:nvSpPr>
          <p:cNvPr id="46" name="Text 41"/>
          <p:cNvSpPr/>
          <p:nvPr/>
        </p:nvSpPr>
        <p:spPr>
          <a:xfrm>
            <a:off x="4676775" y="4689723"/>
            <a:ext cx="76125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VIEW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4676775" y="4899273"/>
            <a:ext cx="1065163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visualizations</a:t>
            </a:r>
            <a:endParaRPr lang="en-US" sz="1275" dirty="0"/>
          </a:p>
        </p:txBody>
      </p:sp>
      <p:sp>
        <p:nvSpPr>
          <p:cNvPr id="48" name="Text 43"/>
          <p:cNvSpPr/>
          <p:nvPr/>
        </p:nvSpPr>
        <p:spPr>
          <a:xfrm>
            <a:off x="4924425" y="5402014"/>
            <a:ext cx="8529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49" name="Text 44"/>
          <p:cNvSpPr/>
          <p:nvPr/>
        </p:nvSpPr>
        <p:spPr>
          <a:xfrm>
            <a:off x="6781800" y="4932313"/>
            <a:ext cx="50556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Plotly</a:t>
            </a:r>
            <a:endParaRPr lang="en-US" sz="1425" dirty="0"/>
          </a:p>
        </p:txBody>
      </p:sp>
      <p:sp>
        <p:nvSpPr>
          <p:cNvPr id="50" name="Text 45"/>
          <p:cNvSpPr/>
          <p:nvPr/>
        </p:nvSpPr>
        <p:spPr>
          <a:xfrm>
            <a:off x="6781800" y="5188000"/>
            <a:ext cx="135790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INTERACTIVE CHARTS</a:t>
            </a:r>
            <a:endParaRPr lang="en-US" sz="825" dirty="0"/>
          </a:p>
        </p:txBody>
      </p:sp>
      <p:sp>
        <p:nvSpPr>
          <p:cNvPr id="51" name="Text 46"/>
          <p:cNvSpPr/>
          <p:nvPr/>
        </p:nvSpPr>
        <p:spPr>
          <a:xfrm>
            <a:off x="4676775" y="5663208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L5 · ML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4676775" y="5872758"/>
            <a:ext cx="8940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A9D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 libraries</a:t>
            </a:r>
            <a:endParaRPr lang="en-US" sz="1275" dirty="0"/>
          </a:p>
        </p:txBody>
      </p:sp>
      <p:sp>
        <p:nvSpPr>
          <p:cNvPr id="53" name="Text 48"/>
          <p:cNvSpPr/>
          <p:nvPr/>
        </p:nvSpPr>
        <p:spPr>
          <a:xfrm>
            <a:off x="4943475" y="6181279"/>
            <a:ext cx="93047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825" dirty="0"/>
          </a:p>
        </p:txBody>
      </p:sp>
      <p:sp>
        <p:nvSpPr>
          <p:cNvPr id="54" name="Text 49"/>
          <p:cNvSpPr/>
          <p:nvPr/>
        </p:nvSpPr>
        <p:spPr>
          <a:xfrm>
            <a:off x="6781800" y="5824984"/>
            <a:ext cx="24025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A9D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None confirmed in supplied brief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6781800" y="6047780"/>
            <a:ext cx="26403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 ONLY LIBRARIES PRESENT IN CODE</a:t>
            </a:r>
            <a:endParaRPr lang="en-US" sz="825" dirty="0"/>
          </a:p>
        </p:txBody>
      </p:sp>
      <p:sp>
        <p:nvSpPr>
          <p:cNvPr id="56" name="Text 51"/>
          <p:cNvSpPr/>
          <p:nvPr/>
        </p:nvSpPr>
        <p:spPr>
          <a:xfrm>
            <a:off x="10914013" y="64865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85202" y="342900"/>
            <a:ext cx="1320998" cy="26670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90575" y="1495425"/>
            <a:ext cx="228600" cy="228600"/>
          </a:xfrm>
          <a:prstGeom prst="rect">
            <a:avLst/>
          </a:prstGeom>
          <a:ln/>
        </p:spPr>
      </p:sp>
      <p:sp>
        <p:nvSpPr>
          <p:cNvPr id="5" name="Shape 2"/>
          <p:cNvSpPr/>
          <p:nvPr/>
        </p:nvSpPr>
        <p:spPr>
          <a:xfrm>
            <a:off x="790575" y="149542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6" name="Shape 3"/>
          <p:cNvSpPr/>
          <p:nvPr/>
        </p:nvSpPr>
        <p:spPr>
          <a:xfrm>
            <a:off x="790575" y="149542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7" name="Shape 4"/>
          <p:cNvSpPr/>
          <p:nvPr/>
        </p:nvSpPr>
        <p:spPr>
          <a:xfrm>
            <a:off x="6448425" y="3152775"/>
            <a:ext cx="228600" cy="228600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6657975" y="315277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6"/>
          <p:cNvSpPr/>
          <p:nvPr/>
        </p:nvSpPr>
        <p:spPr>
          <a:xfrm>
            <a:off x="6448425" y="336232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7"/>
          <p:cNvSpPr/>
          <p:nvPr/>
        </p:nvSpPr>
        <p:spPr>
          <a:xfrm>
            <a:off x="866775" y="15525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38975" y="1495425"/>
            <a:ext cx="228600" cy="228600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7038975" y="149542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13" name="Shape 10"/>
          <p:cNvSpPr/>
          <p:nvPr/>
        </p:nvSpPr>
        <p:spPr>
          <a:xfrm>
            <a:off x="7038975" y="149542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14" name="Shape 11"/>
          <p:cNvSpPr/>
          <p:nvPr/>
        </p:nvSpPr>
        <p:spPr>
          <a:xfrm>
            <a:off x="11172825" y="3152775"/>
            <a:ext cx="228600" cy="228600"/>
          </a:xfrm>
          <a:prstGeom prst="rect">
            <a:avLst/>
          </a:prstGeom>
          <a:ln/>
        </p:spPr>
      </p:sp>
      <p:sp>
        <p:nvSpPr>
          <p:cNvPr id="15" name="Shape 12"/>
          <p:cNvSpPr/>
          <p:nvPr/>
        </p:nvSpPr>
        <p:spPr>
          <a:xfrm>
            <a:off x="11382375" y="315277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Shape 13"/>
          <p:cNvSpPr/>
          <p:nvPr/>
        </p:nvSpPr>
        <p:spPr>
          <a:xfrm>
            <a:off x="11172825" y="336232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Shape 14"/>
          <p:cNvSpPr/>
          <p:nvPr/>
        </p:nvSpPr>
        <p:spPr>
          <a:xfrm>
            <a:off x="7115175" y="15525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0575" y="4352925"/>
            <a:ext cx="228600" cy="228600"/>
          </a:xfrm>
          <a:prstGeom prst="rect">
            <a:avLst/>
          </a:prstGeom>
          <a:ln/>
        </p:spPr>
      </p:sp>
      <p:sp>
        <p:nvSpPr>
          <p:cNvPr id="19" name="Shape 16"/>
          <p:cNvSpPr/>
          <p:nvPr/>
        </p:nvSpPr>
        <p:spPr>
          <a:xfrm>
            <a:off x="790575" y="435292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20" name="Shape 17"/>
          <p:cNvSpPr/>
          <p:nvPr/>
        </p:nvSpPr>
        <p:spPr>
          <a:xfrm>
            <a:off x="790575" y="435292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21" name="Shape 18"/>
          <p:cNvSpPr/>
          <p:nvPr/>
        </p:nvSpPr>
        <p:spPr>
          <a:xfrm>
            <a:off x="3800475" y="5286375"/>
            <a:ext cx="228600" cy="228600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4010025" y="528637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Shape 20"/>
          <p:cNvSpPr/>
          <p:nvPr/>
        </p:nvSpPr>
        <p:spPr>
          <a:xfrm>
            <a:off x="3800475" y="549592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Shape 21"/>
          <p:cNvSpPr/>
          <p:nvPr/>
        </p:nvSpPr>
        <p:spPr>
          <a:xfrm>
            <a:off x="866775" y="4410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467225" y="4352925"/>
            <a:ext cx="228600" cy="228600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4467225" y="435292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27" name="Shape 24"/>
          <p:cNvSpPr/>
          <p:nvPr/>
        </p:nvSpPr>
        <p:spPr>
          <a:xfrm>
            <a:off x="4467225" y="435292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28" name="Shape 25"/>
          <p:cNvSpPr/>
          <p:nvPr/>
        </p:nvSpPr>
        <p:spPr>
          <a:xfrm>
            <a:off x="7477125" y="5286375"/>
            <a:ext cx="228600" cy="228600"/>
          </a:xfrm>
          <a:prstGeom prst="rect">
            <a:avLst/>
          </a:prstGeom>
          <a:ln/>
        </p:spPr>
      </p:sp>
      <p:sp>
        <p:nvSpPr>
          <p:cNvPr id="29" name="Shape 26"/>
          <p:cNvSpPr/>
          <p:nvPr/>
        </p:nvSpPr>
        <p:spPr>
          <a:xfrm>
            <a:off x="7686675" y="528637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Shape 27"/>
          <p:cNvSpPr/>
          <p:nvPr/>
        </p:nvSpPr>
        <p:spPr>
          <a:xfrm>
            <a:off x="7477125" y="549592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Shape 28"/>
          <p:cNvSpPr/>
          <p:nvPr/>
        </p:nvSpPr>
        <p:spPr>
          <a:xfrm>
            <a:off x="4543425" y="4410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143875" y="4352925"/>
            <a:ext cx="228600" cy="228600"/>
          </a:xfrm>
          <a:prstGeom prst="rect">
            <a:avLst/>
          </a:prstGeom>
          <a:ln/>
        </p:spPr>
      </p:sp>
      <p:sp>
        <p:nvSpPr>
          <p:cNvPr id="33" name="Shape 30"/>
          <p:cNvSpPr/>
          <p:nvPr/>
        </p:nvSpPr>
        <p:spPr>
          <a:xfrm>
            <a:off x="8143875" y="4352925"/>
            <a:ext cx="228600" cy="1905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34" name="Shape 31"/>
          <p:cNvSpPr/>
          <p:nvPr/>
        </p:nvSpPr>
        <p:spPr>
          <a:xfrm>
            <a:off x="8143875" y="4352925"/>
            <a:ext cx="19050" cy="2286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35" name="Shape 32"/>
          <p:cNvSpPr/>
          <p:nvPr/>
        </p:nvSpPr>
        <p:spPr>
          <a:xfrm>
            <a:off x="11153775" y="5286375"/>
            <a:ext cx="228600" cy="228600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11363325" y="5286375"/>
            <a:ext cx="19050" cy="228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Shape 34"/>
          <p:cNvSpPr/>
          <p:nvPr/>
        </p:nvSpPr>
        <p:spPr>
          <a:xfrm>
            <a:off x="11153775" y="5495925"/>
            <a:ext cx="22860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8" name="Shape 35"/>
          <p:cNvSpPr/>
          <p:nvPr/>
        </p:nvSpPr>
        <p:spPr>
          <a:xfrm>
            <a:off x="8220075" y="44100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F3DA8"/>
          </a:solidFill>
          <a:ln/>
          <a:effectLst>
            <a:outerShdw sx="100000" sy="100000" kx="0" ky="0" algn="bl" rotWithShape="0" blurRad="152400" dist="50800" dir="16200000">
              <a:srgbClr val="ff3da8">
                <a:alpha val="28000"/>
              </a:srgbClr>
            </a:outerShdw>
          </a:effectLst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49605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85800" y="381000"/>
            <a:ext cx="27292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INTERFACE · DASHBOARD</a:t>
            </a:r>
            <a:endParaRPr lang="en-US" sz="975" dirty="0"/>
          </a:p>
        </p:txBody>
      </p:sp>
      <p:sp>
        <p:nvSpPr>
          <p:cNvPr id="41" name="Text 37"/>
          <p:cNvSpPr/>
          <p:nvPr/>
        </p:nvSpPr>
        <p:spPr>
          <a:xfrm>
            <a:off x="10451902" y="400050"/>
            <a:ext cx="93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85800" y="609600"/>
            <a:ext cx="661392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Interactive TwinCare AI Dashboard</a:t>
            </a:r>
            <a:endParaRPr lang="en-US" sz="3300" dirty="0"/>
          </a:p>
        </p:txBody>
      </p:sp>
      <p:sp>
        <p:nvSpPr>
          <p:cNvPr id="43" name="Text 39"/>
          <p:cNvSpPr/>
          <p:nvPr/>
        </p:nvSpPr>
        <p:spPr>
          <a:xfrm>
            <a:off x="907256" y="1600200"/>
            <a:ext cx="1665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16" kern="0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209675" y="1609725"/>
            <a:ext cx="17058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SCREENSHOT PLACEHOLDER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1717923" y="2219325"/>
            <a:ext cx="40317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OVERVIEW &amp; VIRTUAL PATIENT PROFILE</a:t>
            </a:r>
            <a:endParaRPr lang="en-US" sz="975" dirty="0"/>
          </a:p>
        </p:txBody>
      </p:sp>
      <p:sp>
        <p:nvSpPr>
          <p:cNvPr id="46" name="Text 42"/>
          <p:cNvSpPr/>
          <p:nvPr/>
        </p:nvSpPr>
        <p:spPr>
          <a:xfrm>
            <a:off x="1578173" y="2466975"/>
            <a:ext cx="431125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captured screenshot of the existing TwinCare AI interface</a:t>
            </a:r>
            <a:endParaRPr lang="en-US" sz="1125" dirty="0"/>
          </a:p>
        </p:txBody>
      </p:sp>
      <p:sp>
        <p:nvSpPr>
          <p:cNvPr id="47" name="Text 43"/>
          <p:cNvSpPr/>
          <p:nvPr/>
        </p:nvSpPr>
        <p:spPr>
          <a:xfrm>
            <a:off x="685800" y="3609975"/>
            <a:ext cx="34083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overview and virtual patient profile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685800" y="3849886"/>
            <a:ext cx="50053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dashboard view with the virtual patient profile for a synthetic patient.</a:t>
            </a:r>
            <a:endParaRPr lang="en-US" sz="1125" dirty="0"/>
          </a:p>
        </p:txBody>
      </p:sp>
      <p:sp>
        <p:nvSpPr>
          <p:cNvPr id="49" name="Text 45"/>
          <p:cNvSpPr/>
          <p:nvPr/>
        </p:nvSpPr>
        <p:spPr>
          <a:xfrm>
            <a:off x="7155656" y="1600200"/>
            <a:ext cx="1665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16" kern="0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458075" y="1609725"/>
            <a:ext cx="170586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SCREENSHOT PLACEHOLDER</a:t>
            </a:r>
            <a:endParaRPr lang="en-US" sz="825" dirty="0"/>
          </a:p>
        </p:txBody>
      </p:sp>
      <p:sp>
        <p:nvSpPr>
          <p:cNvPr id="51" name="Text 47"/>
          <p:cNvSpPr/>
          <p:nvPr/>
        </p:nvSpPr>
        <p:spPr>
          <a:xfrm>
            <a:off x="8303865" y="2219325"/>
            <a:ext cx="18326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TELEMETRY CARDS</a:t>
            </a:r>
            <a:endParaRPr lang="en-US" sz="975" dirty="0"/>
          </a:p>
        </p:txBody>
      </p:sp>
      <p:sp>
        <p:nvSpPr>
          <p:cNvPr id="52" name="Text 48"/>
          <p:cNvSpPr/>
          <p:nvPr/>
        </p:nvSpPr>
        <p:spPr>
          <a:xfrm>
            <a:off x="7551093" y="2466975"/>
            <a:ext cx="33380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captured screenshot of current vitals cards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6934200" y="3609975"/>
            <a:ext cx="15046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telemetry cards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6934200" y="3849886"/>
            <a:ext cx="4040832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vital-sign readings shown as cards for the synthetic patient.</a:t>
            </a:r>
            <a:endParaRPr lang="en-US" sz="1125" dirty="0"/>
          </a:p>
        </p:txBody>
      </p:sp>
      <p:sp>
        <p:nvSpPr>
          <p:cNvPr id="55" name="Text 51"/>
          <p:cNvSpPr/>
          <p:nvPr/>
        </p:nvSpPr>
        <p:spPr>
          <a:xfrm>
            <a:off x="907256" y="4457700"/>
            <a:ext cx="1665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16" kern="0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1209675" y="4467225"/>
            <a:ext cx="8529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PLACEHOLDER</a:t>
            </a:r>
            <a:endParaRPr lang="en-US" sz="825" dirty="0"/>
          </a:p>
        </p:txBody>
      </p:sp>
      <p:sp>
        <p:nvSpPr>
          <p:cNvPr id="57" name="Text 53"/>
          <p:cNvSpPr/>
          <p:nvPr/>
        </p:nvSpPr>
        <p:spPr>
          <a:xfrm>
            <a:off x="1172766" y="4714875"/>
            <a:ext cx="24741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HEART RATE &amp; BLOOD PRESSURE</a:t>
            </a:r>
            <a:endParaRPr lang="en-US" sz="975" dirty="0"/>
          </a:p>
        </p:txBody>
      </p:sp>
      <p:sp>
        <p:nvSpPr>
          <p:cNvPr id="58" name="Text 54"/>
          <p:cNvSpPr/>
          <p:nvPr/>
        </p:nvSpPr>
        <p:spPr>
          <a:xfrm>
            <a:off x="1304776" y="4962525"/>
            <a:ext cx="22099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captured chart screenshot</a:t>
            </a:r>
            <a:endParaRPr lang="en-US" sz="1125" dirty="0"/>
          </a:p>
        </p:txBody>
      </p:sp>
      <p:sp>
        <p:nvSpPr>
          <p:cNvPr id="59" name="Text 55"/>
          <p:cNvSpPr/>
          <p:nvPr/>
        </p:nvSpPr>
        <p:spPr>
          <a:xfrm>
            <a:off x="685800" y="5743575"/>
            <a:ext cx="27716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Heart-rate and blood-pressure charts</a:t>
            </a:r>
            <a:endParaRPr lang="en-US" sz="1200" dirty="0"/>
          </a:p>
        </p:txBody>
      </p:sp>
      <p:sp>
        <p:nvSpPr>
          <p:cNvPr id="60" name="Text 56"/>
          <p:cNvSpPr/>
          <p:nvPr/>
        </p:nvSpPr>
        <p:spPr>
          <a:xfrm>
            <a:off x="685800" y="5983486"/>
            <a:ext cx="3384947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physiological time-series charts for the simulated telemetry.</a:t>
            </a:r>
            <a:endParaRPr lang="en-US" sz="1125" dirty="0"/>
          </a:p>
        </p:txBody>
      </p:sp>
      <p:sp>
        <p:nvSpPr>
          <p:cNvPr id="61" name="Text 57"/>
          <p:cNvSpPr/>
          <p:nvPr/>
        </p:nvSpPr>
        <p:spPr>
          <a:xfrm>
            <a:off x="4583906" y="4457700"/>
            <a:ext cx="1665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16" kern="0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4886325" y="4467225"/>
            <a:ext cx="8529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PLACEHOLDER</a:t>
            </a:r>
            <a:endParaRPr lang="en-US" sz="825" dirty="0"/>
          </a:p>
        </p:txBody>
      </p:sp>
      <p:sp>
        <p:nvSpPr>
          <p:cNvPr id="63" name="Text 59"/>
          <p:cNvSpPr/>
          <p:nvPr/>
        </p:nvSpPr>
        <p:spPr>
          <a:xfrm>
            <a:off x="5445026" y="4714875"/>
            <a:ext cx="12828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GLUCOSE &amp; SPO2</a:t>
            </a:r>
            <a:endParaRPr lang="en-US" sz="975" dirty="0"/>
          </a:p>
        </p:txBody>
      </p:sp>
      <p:sp>
        <p:nvSpPr>
          <p:cNvPr id="64" name="Text 60"/>
          <p:cNvSpPr/>
          <p:nvPr/>
        </p:nvSpPr>
        <p:spPr>
          <a:xfrm>
            <a:off x="4981426" y="4962525"/>
            <a:ext cx="22099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captured chart screenshot</a:t>
            </a:r>
            <a:endParaRPr lang="en-US" sz="1125" dirty="0"/>
          </a:p>
        </p:txBody>
      </p:sp>
      <p:sp>
        <p:nvSpPr>
          <p:cNvPr id="65" name="Text 61"/>
          <p:cNvSpPr/>
          <p:nvPr/>
        </p:nvSpPr>
        <p:spPr>
          <a:xfrm>
            <a:off x="4362450" y="5743575"/>
            <a:ext cx="2812256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Blood-glucose and oxygen-saturation visualizations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4362450" y="6204347"/>
            <a:ext cx="3308747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glucose and SpO2 signals plotted over time.</a:t>
            </a:r>
            <a:endParaRPr lang="en-US" sz="1125" dirty="0"/>
          </a:p>
        </p:txBody>
      </p:sp>
      <p:sp>
        <p:nvSpPr>
          <p:cNvPr id="67" name="Text 63"/>
          <p:cNvSpPr/>
          <p:nvPr/>
        </p:nvSpPr>
        <p:spPr>
          <a:xfrm>
            <a:off x="8260556" y="4457700"/>
            <a:ext cx="1665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16" kern="0" dirty="0">
                <a:solidFill>
                  <a:srgbClr val="1208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8562975" y="4467225"/>
            <a:ext cx="8529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PLACEHOLDER</a:t>
            </a:r>
            <a:endParaRPr lang="en-US" sz="825" dirty="0"/>
          </a:p>
        </p:txBody>
      </p:sp>
      <p:sp>
        <p:nvSpPr>
          <p:cNvPr id="69" name="Text 65"/>
          <p:cNvSpPr/>
          <p:nvPr/>
        </p:nvSpPr>
        <p:spPr>
          <a:xfrm>
            <a:off x="8709273" y="4714875"/>
            <a:ext cx="210755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ACTIVITY VS. HEART RATE</a:t>
            </a:r>
            <a:endParaRPr lang="en-US" sz="975" dirty="0"/>
          </a:p>
        </p:txBody>
      </p:sp>
      <p:sp>
        <p:nvSpPr>
          <p:cNvPr id="70" name="Text 66"/>
          <p:cNvSpPr/>
          <p:nvPr/>
        </p:nvSpPr>
        <p:spPr>
          <a:xfrm>
            <a:off x="8658076" y="4962525"/>
            <a:ext cx="220994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captured chart screenshot</a:t>
            </a:r>
            <a:endParaRPr lang="en-US" sz="1125" dirty="0"/>
          </a:p>
        </p:txBody>
      </p:sp>
      <p:sp>
        <p:nvSpPr>
          <p:cNvPr id="71" name="Text 67"/>
          <p:cNvSpPr/>
          <p:nvPr/>
        </p:nvSpPr>
        <p:spPr>
          <a:xfrm>
            <a:off x="8039100" y="5743575"/>
            <a:ext cx="30539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versus heart-rate response chart</a:t>
            </a:r>
            <a:endParaRPr lang="en-US" sz="1200" dirty="0"/>
          </a:p>
        </p:txBody>
      </p:sp>
      <p:sp>
        <p:nvSpPr>
          <p:cNvPr id="72" name="Text 68"/>
          <p:cNvSpPr/>
          <p:nvPr/>
        </p:nvSpPr>
        <p:spPr>
          <a:xfrm>
            <a:off x="8039100" y="5983486"/>
            <a:ext cx="3351907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Heart-rate response plotted against the simulated activity level.</a:t>
            </a:r>
            <a:endParaRPr lang="en-US" sz="1125" dirty="0"/>
          </a:p>
        </p:txBody>
      </p:sp>
      <p:sp>
        <p:nvSpPr>
          <p:cNvPr id="73" name="Text 69"/>
          <p:cNvSpPr/>
          <p:nvPr/>
        </p:nvSpPr>
        <p:spPr>
          <a:xfrm>
            <a:off x="685800" y="6515100"/>
            <a:ext cx="2627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DATA · SIMULATED OUTPUT</a:t>
            </a:r>
            <a:endParaRPr lang="en-US" sz="825" dirty="0"/>
          </a:p>
        </p:txBody>
      </p:sp>
      <p:sp>
        <p:nvSpPr>
          <p:cNvPr id="74" name="Text 70"/>
          <p:cNvSpPr/>
          <p:nvPr/>
        </p:nvSpPr>
        <p:spPr>
          <a:xfrm>
            <a:off x="10914013" y="64960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5325" y="2162175"/>
            <a:ext cx="1962150" cy="385763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695325" y="2538413"/>
            <a:ext cx="19621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657475" y="2162175"/>
            <a:ext cx="1390650" cy="385763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2657475" y="2538413"/>
            <a:ext cx="13906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048125" y="2162175"/>
            <a:ext cx="3914775" cy="385763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4048125" y="2538413"/>
            <a:ext cx="3914775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95325" y="2547938"/>
            <a:ext cx="1962150" cy="611386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695325" y="3149798"/>
            <a:ext cx="1962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657475" y="2547938"/>
            <a:ext cx="1390650" cy="611386"/>
          </a:xfrm>
          <a:prstGeom prst="rect">
            <a:avLst/>
          </a:prstGeom>
          <a:ln/>
        </p:spPr>
      </p:sp>
      <p:sp>
        <p:nvSpPr>
          <p:cNvPr id="12" name="Shape 9"/>
          <p:cNvSpPr/>
          <p:nvPr/>
        </p:nvSpPr>
        <p:spPr>
          <a:xfrm>
            <a:off x="2657475" y="3149798"/>
            <a:ext cx="1390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09875" y="2732633"/>
            <a:ext cx="1195834" cy="241846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48125" y="2547938"/>
            <a:ext cx="3914775" cy="611386"/>
          </a:xfrm>
          <a:prstGeom prst="rect">
            <a:avLst/>
          </a:prstGeom>
          <a:ln/>
        </p:spPr>
      </p:sp>
      <p:sp>
        <p:nvSpPr>
          <p:cNvPr id="15" name="Shape 12"/>
          <p:cNvSpPr/>
          <p:nvPr/>
        </p:nvSpPr>
        <p:spPr>
          <a:xfrm>
            <a:off x="4048125" y="3149798"/>
            <a:ext cx="3914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95325" y="3159323"/>
            <a:ext cx="1962150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95325" y="3814465"/>
            <a:ext cx="1962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2657475" y="3159323"/>
            <a:ext cx="1390650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2657475" y="3814465"/>
            <a:ext cx="1390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809875" y="3370659"/>
            <a:ext cx="1040755" cy="241846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48125" y="3159323"/>
            <a:ext cx="3914775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048125" y="3814465"/>
            <a:ext cx="3914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95325" y="3823990"/>
            <a:ext cx="1962150" cy="611386"/>
          </a:xfrm>
          <a:prstGeom prst="rect">
            <a:avLst/>
          </a:prstGeom>
          <a:ln/>
        </p:spPr>
      </p:sp>
      <p:sp>
        <p:nvSpPr>
          <p:cNvPr id="24" name="Shape 21"/>
          <p:cNvSpPr/>
          <p:nvPr/>
        </p:nvSpPr>
        <p:spPr>
          <a:xfrm>
            <a:off x="695325" y="4425851"/>
            <a:ext cx="1962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657475" y="3823990"/>
            <a:ext cx="1390650" cy="611386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2657475" y="4425851"/>
            <a:ext cx="1390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809875" y="4008686"/>
            <a:ext cx="1195834" cy="241846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48125" y="3823990"/>
            <a:ext cx="3914775" cy="611386"/>
          </a:xfrm>
          <a:prstGeom prst="rect">
            <a:avLst/>
          </a:prstGeom>
          <a:ln/>
        </p:spPr>
      </p:sp>
      <p:sp>
        <p:nvSpPr>
          <p:cNvPr id="29" name="Shape 26"/>
          <p:cNvSpPr/>
          <p:nvPr/>
        </p:nvSpPr>
        <p:spPr>
          <a:xfrm>
            <a:off x="4048125" y="4425851"/>
            <a:ext cx="3914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95325" y="4435376"/>
            <a:ext cx="1962150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95325" y="5090517"/>
            <a:ext cx="1962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657475" y="4435376"/>
            <a:ext cx="1390650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2657475" y="5090517"/>
            <a:ext cx="1390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2809875" y="4646712"/>
            <a:ext cx="1040755" cy="241846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48125" y="4435376"/>
            <a:ext cx="3914775" cy="664666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048125" y="5090517"/>
            <a:ext cx="3914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95325" y="5100042"/>
            <a:ext cx="1962150" cy="611386"/>
          </a:xfrm>
          <a:prstGeom prst="rect">
            <a:avLst/>
          </a:prstGeom>
          <a:ln/>
        </p:spPr>
      </p:sp>
      <p:sp>
        <p:nvSpPr>
          <p:cNvPr id="38" name="Shape 35"/>
          <p:cNvSpPr/>
          <p:nvPr/>
        </p:nvSpPr>
        <p:spPr>
          <a:xfrm>
            <a:off x="695325" y="5701903"/>
            <a:ext cx="1962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657475" y="5100042"/>
            <a:ext cx="1390650" cy="611386"/>
          </a:xfrm>
          <a:prstGeom prst="rect">
            <a:avLst/>
          </a:prstGeom>
          <a:ln/>
        </p:spPr>
      </p:sp>
      <p:sp>
        <p:nvSpPr>
          <p:cNvPr id="40" name="Shape 37"/>
          <p:cNvSpPr/>
          <p:nvPr/>
        </p:nvSpPr>
        <p:spPr>
          <a:xfrm>
            <a:off x="2657475" y="5701903"/>
            <a:ext cx="1390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2809875" y="5284738"/>
            <a:ext cx="1292423" cy="241846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48125" y="5100042"/>
            <a:ext cx="3914775" cy="611386"/>
          </a:xfrm>
          <a:prstGeom prst="rect">
            <a:avLst/>
          </a:prstGeom>
          <a:ln/>
        </p:spPr>
      </p:sp>
      <p:sp>
        <p:nvSpPr>
          <p:cNvPr id="43" name="Shape 40"/>
          <p:cNvSpPr/>
          <p:nvPr/>
        </p:nvSpPr>
        <p:spPr>
          <a:xfrm>
            <a:off x="4048125" y="5701903"/>
            <a:ext cx="3914775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0110341" y="2357438"/>
            <a:ext cx="1195834" cy="22860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265420" y="3633788"/>
            <a:ext cx="1040755" cy="22860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013752" y="4905375"/>
            <a:ext cx="1292423" cy="228600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85800" y="5924550"/>
            <a:ext cx="10820400" cy="419100"/>
          </a:xfrm>
          <a:prstGeom prst="roundRect">
            <a:avLst>
              <a:gd name="adj" fmla="val 27273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496050"/>
          </a:xfrm>
          <a:prstGeom prst="rect">
            <a:avLst/>
          </a:prstGeom>
        </p:spPr>
      </p:pic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6010275"/>
            <a:ext cx="1143000" cy="24765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85800" y="438150"/>
            <a:ext cx="244688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ANALYTICS &amp; SCENARIOS</a:t>
            </a:r>
            <a:endParaRPr lang="en-US" sz="975" dirty="0"/>
          </a:p>
        </p:txBody>
      </p:sp>
      <p:sp>
        <p:nvSpPr>
          <p:cNvPr id="51" name="Text 46"/>
          <p:cNvSpPr/>
          <p:nvPr/>
        </p:nvSpPr>
        <p:spPr>
          <a:xfrm>
            <a:off x="685800" y="647700"/>
            <a:ext cx="7111752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and Scenario Exploration</a:t>
            </a:r>
            <a:endParaRPr lang="en-US" sz="3450" dirty="0"/>
          </a:p>
        </p:txBody>
      </p:sp>
      <p:sp>
        <p:nvSpPr>
          <p:cNvPr id="52" name="Text 47"/>
          <p:cNvSpPr/>
          <p:nvPr/>
        </p:nvSpPr>
        <p:spPr>
          <a:xfrm>
            <a:off x="685800" y="1323975"/>
            <a:ext cx="950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Physiological signals displayed over time, with simulated patient parameters open to change. Visualization, simulation and prediction are kept distinct.</a:t>
            </a:r>
            <a:endParaRPr lang="en-US" sz="1350" dirty="0"/>
          </a:p>
        </p:txBody>
      </p:sp>
      <p:sp>
        <p:nvSpPr>
          <p:cNvPr id="53" name="Text 48"/>
          <p:cNvSpPr/>
          <p:nvPr/>
        </p:nvSpPr>
        <p:spPr>
          <a:xfrm>
            <a:off x="847725" y="2295525"/>
            <a:ext cx="7753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CAPABILITY</a:t>
            </a:r>
            <a:endParaRPr lang="en-US" sz="825" dirty="0"/>
          </a:p>
        </p:txBody>
      </p:sp>
      <p:sp>
        <p:nvSpPr>
          <p:cNvPr id="54" name="Text 49"/>
          <p:cNvSpPr/>
          <p:nvPr/>
        </p:nvSpPr>
        <p:spPr>
          <a:xfrm>
            <a:off x="2809875" y="2295525"/>
            <a:ext cx="465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825" dirty="0"/>
          </a:p>
        </p:txBody>
      </p:sp>
      <p:sp>
        <p:nvSpPr>
          <p:cNvPr id="55" name="Text 50"/>
          <p:cNvSpPr/>
          <p:nvPr/>
        </p:nvSpPr>
        <p:spPr>
          <a:xfrm>
            <a:off x="4200525" y="2295525"/>
            <a:ext cx="17832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PROTOTYPE DOES</a:t>
            </a:r>
            <a:endParaRPr lang="en-US" sz="825" dirty="0"/>
          </a:p>
        </p:txBody>
      </p:sp>
      <p:sp>
        <p:nvSpPr>
          <p:cNvPr id="56" name="Text 51"/>
          <p:cNvSpPr/>
          <p:nvPr/>
        </p:nvSpPr>
        <p:spPr>
          <a:xfrm>
            <a:off x="847725" y="2746921"/>
            <a:ext cx="12573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Signals over time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3048000" y="2780258"/>
            <a:ext cx="852934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58" name="Text 53"/>
          <p:cNvSpPr/>
          <p:nvPr/>
        </p:nvSpPr>
        <p:spPr>
          <a:xfrm>
            <a:off x="4200525" y="2676525"/>
            <a:ext cx="326588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Plotly time-series of synthetic heart rate, blood pressure, glucose, SpO₂ and temperature.</a:t>
            </a:r>
            <a:endParaRPr lang="en-US" sz="1050" dirty="0"/>
          </a:p>
        </p:txBody>
      </p:sp>
      <p:sp>
        <p:nvSpPr>
          <p:cNvPr id="59" name="Text 54"/>
          <p:cNvSpPr/>
          <p:nvPr/>
        </p:nvSpPr>
        <p:spPr>
          <a:xfrm>
            <a:off x="847725" y="3278386"/>
            <a:ext cx="1333202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Patient parameter changes</a:t>
            </a:r>
            <a:endParaRPr lang="en-US" sz="1200" dirty="0"/>
          </a:p>
        </p:txBody>
      </p:sp>
      <p:sp>
        <p:nvSpPr>
          <p:cNvPr id="60" name="Text 55"/>
          <p:cNvSpPr/>
          <p:nvPr/>
        </p:nvSpPr>
        <p:spPr>
          <a:xfrm>
            <a:off x="3048000" y="3418284"/>
            <a:ext cx="697855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825" dirty="0"/>
          </a:p>
        </p:txBody>
      </p:sp>
      <p:sp>
        <p:nvSpPr>
          <p:cNvPr id="61" name="Text 56"/>
          <p:cNvSpPr/>
          <p:nvPr/>
        </p:nvSpPr>
        <p:spPr>
          <a:xfrm>
            <a:off x="4200525" y="3314551"/>
            <a:ext cx="335607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biological sex, activity, sleep and stress settings change the synthetic telemetry stream.</a:t>
            </a:r>
            <a:endParaRPr lang="en-US" sz="1050" dirty="0"/>
          </a:p>
        </p:txBody>
      </p:sp>
      <p:sp>
        <p:nvSpPr>
          <p:cNvPr id="62" name="Text 57"/>
          <p:cNvSpPr/>
          <p:nvPr/>
        </p:nvSpPr>
        <p:spPr>
          <a:xfrm>
            <a:off x="847725" y="4022973"/>
            <a:ext cx="14280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Analytical methods</a:t>
            </a:r>
            <a:endParaRPr lang="en-US" sz="1200" dirty="0"/>
          </a:p>
        </p:txBody>
      </p:sp>
      <p:sp>
        <p:nvSpPr>
          <p:cNvPr id="63" name="Text 58"/>
          <p:cNvSpPr/>
          <p:nvPr/>
        </p:nvSpPr>
        <p:spPr>
          <a:xfrm>
            <a:off x="3048000" y="4056311"/>
            <a:ext cx="852934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64" name="Text 59"/>
          <p:cNvSpPr/>
          <p:nvPr/>
        </p:nvSpPr>
        <p:spPr>
          <a:xfrm>
            <a:off x="4200525" y="3952577"/>
            <a:ext cx="3425130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and NumPy feature preparation; trend and risk visualization rendered in Plotly.</a:t>
            </a:r>
            <a:endParaRPr lang="en-US" sz="1050" dirty="0"/>
          </a:p>
        </p:txBody>
      </p:sp>
      <p:sp>
        <p:nvSpPr>
          <p:cNvPr id="65" name="Text 60"/>
          <p:cNvSpPr/>
          <p:nvPr/>
        </p:nvSpPr>
        <p:spPr>
          <a:xfrm>
            <a:off x="847725" y="4554438"/>
            <a:ext cx="953393" cy="41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Anomaly and resimulation</a:t>
            </a:r>
            <a:endParaRPr lang="en-US" sz="1200" dirty="0"/>
          </a:p>
        </p:txBody>
      </p:sp>
      <p:sp>
        <p:nvSpPr>
          <p:cNvPr id="66" name="Text 61"/>
          <p:cNvSpPr/>
          <p:nvPr/>
        </p:nvSpPr>
        <p:spPr>
          <a:xfrm>
            <a:off x="3048000" y="4694337"/>
            <a:ext cx="697855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825" dirty="0"/>
          </a:p>
        </p:txBody>
      </p:sp>
      <p:sp>
        <p:nvSpPr>
          <p:cNvPr id="67" name="Text 62"/>
          <p:cNvSpPr/>
          <p:nvPr/>
        </p:nvSpPr>
        <p:spPr>
          <a:xfrm>
            <a:off x="4200525" y="4590604"/>
            <a:ext cx="3363218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Acute anomaly simulation and telemetry resimulation, where implemented, on synthetic data only.</a:t>
            </a:r>
            <a:endParaRPr lang="en-US" sz="1050" dirty="0"/>
          </a:p>
        </p:txBody>
      </p:sp>
      <p:sp>
        <p:nvSpPr>
          <p:cNvPr id="68" name="Text 63"/>
          <p:cNvSpPr/>
          <p:nvPr/>
        </p:nvSpPr>
        <p:spPr>
          <a:xfrm>
            <a:off x="847725" y="5299025"/>
            <a:ext cx="14839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Prediction accuracy</a:t>
            </a:r>
            <a:endParaRPr lang="en-US" sz="1200" dirty="0"/>
          </a:p>
        </p:txBody>
      </p:sp>
      <p:sp>
        <p:nvSpPr>
          <p:cNvPr id="69" name="Text 64"/>
          <p:cNvSpPr/>
          <p:nvPr/>
        </p:nvSpPr>
        <p:spPr>
          <a:xfrm>
            <a:off x="3067050" y="5332363"/>
            <a:ext cx="930473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825" dirty="0"/>
          </a:p>
        </p:txBody>
      </p:sp>
      <p:sp>
        <p:nvSpPr>
          <p:cNvPr id="70" name="Text 65"/>
          <p:cNvSpPr/>
          <p:nvPr/>
        </p:nvSpPr>
        <p:spPr>
          <a:xfrm>
            <a:off x="4200525" y="5228630"/>
            <a:ext cx="3130600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measured. No model performance, prediction accuracy or validation metrics are reported.</a:t>
            </a:r>
            <a:endParaRPr lang="en-US" sz="1050" dirty="0"/>
          </a:p>
        </p:txBody>
      </p:sp>
      <p:sp>
        <p:nvSpPr>
          <p:cNvPr id="71" name="Text 66"/>
          <p:cNvSpPr/>
          <p:nvPr/>
        </p:nvSpPr>
        <p:spPr>
          <a:xfrm>
            <a:off x="8410575" y="2352675"/>
            <a:ext cx="109969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8410575" y="2581275"/>
            <a:ext cx="235222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Shows recorded signals</a:t>
            </a:r>
            <a:endParaRPr lang="en-US" sz="1650" dirty="0"/>
          </a:p>
        </p:txBody>
      </p:sp>
      <p:sp>
        <p:nvSpPr>
          <p:cNvPr id="73" name="Text 68"/>
          <p:cNvSpPr/>
          <p:nvPr/>
        </p:nvSpPr>
        <p:spPr>
          <a:xfrm>
            <a:off x="8410575" y="2933700"/>
            <a:ext cx="2854077" cy="3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Plots the synthetic signals so patterns can be inspected over time.</a:t>
            </a:r>
            <a:endParaRPr lang="en-US" sz="1050" dirty="0"/>
          </a:p>
        </p:txBody>
      </p:sp>
      <p:sp>
        <p:nvSpPr>
          <p:cNvPr id="74" name="Text 69"/>
          <p:cNvSpPr/>
          <p:nvPr/>
        </p:nvSpPr>
        <p:spPr>
          <a:xfrm>
            <a:off x="10348466" y="2405063"/>
            <a:ext cx="8529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825" dirty="0"/>
          </a:p>
        </p:txBody>
      </p:sp>
      <p:sp>
        <p:nvSpPr>
          <p:cNvPr id="75" name="Text 70"/>
          <p:cNvSpPr/>
          <p:nvPr/>
        </p:nvSpPr>
        <p:spPr>
          <a:xfrm>
            <a:off x="8410575" y="3629025"/>
            <a:ext cx="8459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76" name="Text 71"/>
          <p:cNvSpPr/>
          <p:nvPr/>
        </p:nvSpPr>
        <p:spPr>
          <a:xfrm>
            <a:off x="8410575" y="3857625"/>
            <a:ext cx="28191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Generates synthetic change</a:t>
            </a:r>
            <a:endParaRPr lang="en-US" sz="1650" dirty="0"/>
          </a:p>
        </p:txBody>
      </p:sp>
      <p:sp>
        <p:nvSpPr>
          <p:cNvPr id="77" name="Text 72"/>
          <p:cNvSpPr/>
          <p:nvPr/>
        </p:nvSpPr>
        <p:spPr>
          <a:xfrm>
            <a:off x="8410575" y="4210050"/>
            <a:ext cx="2711351" cy="3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telemetry from configured virtual patient parameters. Not patient data.</a:t>
            </a:r>
            <a:endParaRPr lang="en-US" sz="1050" dirty="0"/>
          </a:p>
        </p:txBody>
      </p:sp>
      <p:sp>
        <p:nvSpPr>
          <p:cNvPr id="78" name="Text 73"/>
          <p:cNvSpPr/>
          <p:nvPr/>
        </p:nvSpPr>
        <p:spPr>
          <a:xfrm>
            <a:off x="10503545" y="3681413"/>
            <a:ext cx="69785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</a:t>
            </a:r>
            <a:endParaRPr lang="en-US" sz="825" dirty="0"/>
          </a:p>
        </p:txBody>
      </p:sp>
      <p:sp>
        <p:nvSpPr>
          <p:cNvPr id="79" name="Text 74"/>
          <p:cNvSpPr/>
          <p:nvPr/>
        </p:nvSpPr>
        <p:spPr>
          <a:xfrm>
            <a:off x="8410575" y="4905375"/>
            <a:ext cx="84593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80" name="Text 75"/>
          <p:cNvSpPr/>
          <p:nvPr/>
        </p:nvSpPr>
        <p:spPr>
          <a:xfrm>
            <a:off x="8410575" y="5133975"/>
            <a:ext cx="117961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claimed</a:t>
            </a:r>
            <a:endParaRPr lang="en-US" sz="1650" dirty="0"/>
          </a:p>
        </p:txBody>
      </p:sp>
      <p:sp>
        <p:nvSpPr>
          <p:cNvPr id="81" name="Text 76"/>
          <p:cNvSpPr/>
          <p:nvPr/>
        </p:nvSpPr>
        <p:spPr>
          <a:xfrm>
            <a:off x="8410575" y="5486400"/>
            <a:ext cx="28542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predictive accuracy is claimed. Evaluation on authorized, de-identified data is future work.</a:t>
            </a:r>
            <a:endParaRPr lang="en-US" sz="1050" dirty="0"/>
          </a:p>
        </p:txBody>
      </p:sp>
      <p:sp>
        <p:nvSpPr>
          <p:cNvPr id="82" name="Text 77"/>
          <p:cNvSpPr/>
          <p:nvPr/>
        </p:nvSpPr>
        <p:spPr>
          <a:xfrm>
            <a:off x="10270927" y="4953000"/>
            <a:ext cx="9304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SCOPE</a:t>
            </a:r>
            <a:endParaRPr lang="en-US" sz="825" dirty="0"/>
          </a:p>
        </p:txBody>
      </p:sp>
      <p:sp>
        <p:nvSpPr>
          <p:cNvPr id="83" name="Text 78"/>
          <p:cNvSpPr/>
          <p:nvPr/>
        </p:nvSpPr>
        <p:spPr>
          <a:xfrm>
            <a:off x="2219325" y="6041231"/>
            <a:ext cx="87900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9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Disclosure:</a:t>
            </a:r>
            <a:pPr algn="l" indent="0" marL="0">
              <a:buNone/>
            </a:pPr>
            <a:r>
              <a:rPr lang="en-US" sz="1125" b="1" dirty="0">
                <a:solidFill>
                  <a:srgbClr val="FF9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predictive model performance has been measured. Figures on this slide are synthetic and are not for clinical use.</a:t>
            </a:r>
            <a:endParaRPr lang="en-US" sz="1125" dirty="0"/>
          </a:p>
        </p:txBody>
      </p:sp>
      <p:sp>
        <p:nvSpPr>
          <p:cNvPr id="84" name="Text 79"/>
          <p:cNvSpPr/>
          <p:nvPr/>
        </p:nvSpPr>
        <p:spPr>
          <a:xfrm>
            <a:off x="685800" y="6515100"/>
            <a:ext cx="2627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DATA · SIMULATED OUTPUT</a:t>
            </a:r>
            <a:endParaRPr lang="en-US" sz="825" dirty="0"/>
          </a:p>
        </p:txBody>
      </p:sp>
      <p:sp>
        <p:nvSpPr>
          <p:cNvPr id="85" name="Text 80"/>
          <p:cNvSpPr/>
          <p:nvPr/>
        </p:nvSpPr>
        <p:spPr>
          <a:xfrm>
            <a:off x="10914013" y="64960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31450" y="471488"/>
            <a:ext cx="1574750" cy="285750"/>
          </a:xfrm>
          <a:prstGeom prst="roundRect">
            <a:avLst>
              <a:gd name="adj" fmla="val 50000"/>
            </a:avLst>
          </a:prstGeom>
          <a:solidFill>
            <a:srgbClr val="FF3DA8">
              <a:alpha val="8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524125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71975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0300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58150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96475" y="1771650"/>
            <a:ext cx="1609725" cy="1276350"/>
          </a:xfrm>
          <a:prstGeom prst="roundRect">
            <a:avLst>
              <a:gd name="adj" fmla="val 8955"/>
            </a:avLst>
          </a:prstGeom>
          <a:solidFill>
            <a:srgbClr val="26143F"/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2025" y="4086225"/>
            <a:ext cx="2286000" cy="828675"/>
          </a:xfrm>
          <a:prstGeom prst="roundRect">
            <a:avLst>
              <a:gd name="adj" fmla="val 11494"/>
            </a:avLst>
          </a:prstGeom>
          <a:solidFill>
            <a:srgbClr val="12081F">
              <a:alpha val="5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2325" y="4086225"/>
            <a:ext cx="2286000" cy="828675"/>
          </a:xfrm>
          <a:prstGeom prst="roundRect">
            <a:avLst>
              <a:gd name="adj" fmla="val 11494"/>
            </a:avLst>
          </a:prstGeom>
          <a:solidFill>
            <a:srgbClr val="12081F">
              <a:alpha val="5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2025" y="5029200"/>
            <a:ext cx="2286000" cy="828675"/>
          </a:xfrm>
          <a:prstGeom prst="roundRect">
            <a:avLst>
              <a:gd name="adj" fmla="val 11494"/>
            </a:avLst>
          </a:prstGeom>
          <a:solidFill>
            <a:srgbClr val="12081F">
              <a:alpha val="5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2325" y="5029200"/>
            <a:ext cx="2286000" cy="828675"/>
          </a:xfrm>
          <a:prstGeom prst="roundRect">
            <a:avLst>
              <a:gd name="adj" fmla="val 11494"/>
            </a:avLst>
          </a:prstGeom>
          <a:solidFill>
            <a:srgbClr val="12081F">
              <a:alpha val="5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67726" y="3686175"/>
            <a:ext cx="1562249" cy="247650"/>
          </a:xfrm>
          <a:prstGeom prst="roundRect">
            <a:avLst>
              <a:gd name="adj" fmla="val 23077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0325" y="4086225"/>
            <a:ext cx="1028700" cy="314325"/>
          </a:xfrm>
          <a:prstGeom prst="rect">
            <a:avLst/>
          </a:prstGeom>
          <a:ln/>
        </p:spPr>
      </p:sp>
      <p:sp>
        <p:nvSpPr>
          <p:cNvPr id="16" name="Shape 13"/>
          <p:cNvSpPr/>
          <p:nvPr/>
        </p:nvSpPr>
        <p:spPr>
          <a:xfrm>
            <a:off x="6410325" y="4391025"/>
            <a:ext cx="102870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439025" y="4086225"/>
            <a:ext cx="2343150" cy="314325"/>
          </a:xfrm>
          <a:prstGeom prst="rect">
            <a:avLst/>
          </a:prstGeom>
          <a:ln/>
        </p:spPr>
      </p:sp>
      <p:sp>
        <p:nvSpPr>
          <p:cNvPr id="18" name="Shape 15"/>
          <p:cNvSpPr/>
          <p:nvPr/>
        </p:nvSpPr>
        <p:spPr>
          <a:xfrm>
            <a:off x="7439025" y="4391025"/>
            <a:ext cx="23431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782175" y="4086225"/>
            <a:ext cx="1466850" cy="314325"/>
          </a:xfrm>
          <a:prstGeom prst="rect">
            <a:avLst/>
          </a:prstGeom>
          <a:ln/>
        </p:spPr>
      </p:sp>
      <p:sp>
        <p:nvSpPr>
          <p:cNvPr id="20" name="Shape 17"/>
          <p:cNvSpPr/>
          <p:nvPr/>
        </p:nvSpPr>
        <p:spPr>
          <a:xfrm>
            <a:off x="9782175" y="4391025"/>
            <a:ext cx="1466850" cy="9525"/>
          </a:xfrm>
          <a:prstGeom prst="rect">
            <a:avLst/>
          </a:prstGeom>
          <a:solidFill>
            <a:srgbClr val="22D3EE">
              <a:alpha val="4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410325" y="4400550"/>
            <a:ext cx="1028700" cy="523875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6410325" y="4914900"/>
            <a:ext cx="1028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439025" y="4400550"/>
            <a:ext cx="2343150" cy="523875"/>
          </a:xfrm>
          <a:prstGeom prst="rect">
            <a:avLst/>
          </a:prstGeom>
          <a:ln/>
        </p:spPr>
      </p:sp>
      <p:sp>
        <p:nvSpPr>
          <p:cNvPr id="24" name="Shape 21"/>
          <p:cNvSpPr/>
          <p:nvPr/>
        </p:nvSpPr>
        <p:spPr>
          <a:xfrm>
            <a:off x="7439025" y="4914900"/>
            <a:ext cx="2343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9782175" y="4400550"/>
            <a:ext cx="1466850" cy="523875"/>
          </a:xfrm>
          <a:prstGeom prst="rect">
            <a:avLst/>
          </a:prstGeom>
          <a:ln/>
        </p:spPr>
      </p:sp>
      <p:sp>
        <p:nvSpPr>
          <p:cNvPr id="26" name="Shape 23"/>
          <p:cNvSpPr/>
          <p:nvPr/>
        </p:nvSpPr>
        <p:spPr>
          <a:xfrm>
            <a:off x="9782175" y="4914900"/>
            <a:ext cx="14668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9896475" y="4538663"/>
            <a:ext cx="670620" cy="247650"/>
          </a:xfrm>
          <a:prstGeom prst="roundRect">
            <a:avLst>
              <a:gd name="adj" fmla="val 23077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10325" y="4924425"/>
            <a:ext cx="102870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410325" y="5438775"/>
            <a:ext cx="1028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439025" y="4924425"/>
            <a:ext cx="234315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439025" y="5438775"/>
            <a:ext cx="2343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782175" y="4924425"/>
            <a:ext cx="146685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782175" y="5438775"/>
            <a:ext cx="14668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9896475" y="5062538"/>
            <a:ext cx="670620" cy="247650"/>
          </a:xfrm>
          <a:prstGeom prst="roundRect">
            <a:avLst>
              <a:gd name="adj" fmla="val 23077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10325" y="5448300"/>
            <a:ext cx="1028700" cy="523875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6410325" y="5962650"/>
            <a:ext cx="1028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7439025" y="5448300"/>
            <a:ext cx="2343150" cy="523875"/>
          </a:xfrm>
          <a:prstGeom prst="rect">
            <a:avLst/>
          </a:prstGeom>
          <a:ln/>
        </p:spPr>
      </p:sp>
      <p:sp>
        <p:nvSpPr>
          <p:cNvPr id="38" name="Shape 35"/>
          <p:cNvSpPr/>
          <p:nvPr/>
        </p:nvSpPr>
        <p:spPr>
          <a:xfrm>
            <a:off x="7439025" y="5962650"/>
            <a:ext cx="2343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9782175" y="5448300"/>
            <a:ext cx="1466850" cy="523875"/>
          </a:xfrm>
          <a:prstGeom prst="rect">
            <a:avLst/>
          </a:prstGeom>
          <a:ln/>
        </p:spPr>
      </p:sp>
      <p:sp>
        <p:nvSpPr>
          <p:cNvPr id="40" name="Shape 37"/>
          <p:cNvSpPr/>
          <p:nvPr/>
        </p:nvSpPr>
        <p:spPr>
          <a:xfrm>
            <a:off x="9782175" y="5962650"/>
            <a:ext cx="14668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9896475" y="5586413"/>
            <a:ext cx="670620" cy="247650"/>
          </a:xfrm>
          <a:prstGeom prst="roundRect">
            <a:avLst>
              <a:gd name="adj" fmla="val 23077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10325" y="5972175"/>
            <a:ext cx="102870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410325" y="6486525"/>
            <a:ext cx="1028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7439025" y="5972175"/>
            <a:ext cx="234315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439025" y="6486525"/>
            <a:ext cx="2343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9782175" y="5972175"/>
            <a:ext cx="1466850" cy="523875"/>
          </a:xfrm>
          <a:prstGeom prst="rect">
            <a:avLst/>
          </a:prstGeom>
          <a:solidFill>
            <a:srgbClr val="331B54">
              <a:alpha val="3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9782175" y="6486525"/>
            <a:ext cx="14668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9896475" y="6110288"/>
            <a:ext cx="670620" cy="247650"/>
          </a:xfrm>
          <a:prstGeom prst="roundRect">
            <a:avLst>
              <a:gd name="adj" fmla="val 23077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410325" y="6496050"/>
            <a:ext cx="1028700" cy="361950"/>
          </a:xfrm>
          <a:prstGeom prst="rect">
            <a:avLst/>
          </a:prstGeom>
          <a:ln/>
        </p:spPr>
      </p:sp>
      <p:sp>
        <p:nvSpPr>
          <p:cNvPr id="50" name="Shape 47"/>
          <p:cNvSpPr/>
          <p:nvPr/>
        </p:nvSpPr>
        <p:spPr>
          <a:xfrm>
            <a:off x="6410325" y="6848475"/>
            <a:ext cx="102870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39025" y="6496050"/>
            <a:ext cx="2343150" cy="361950"/>
          </a:xfrm>
          <a:prstGeom prst="rect">
            <a:avLst/>
          </a:prstGeom>
          <a:ln/>
        </p:spPr>
      </p:sp>
      <p:sp>
        <p:nvSpPr>
          <p:cNvPr id="52" name="Shape 49"/>
          <p:cNvSpPr/>
          <p:nvPr/>
        </p:nvSpPr>
        <p:spPr>
          <a:xfrm>
            <a:off x="7439025" y="6848475"/>
            <a:ext cx="23431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9782175" y="6496050"/>
            <a:ext cx="1466850" cy="361950"/>
          </a:xfrm>
          <a:prstGeom prst="rect">
            <a:avLst/>
          </a:prstGeom>
          <a:ln/>
        </p:spPr>
      </p:sp>
      <p:sp>
        <p:nvSpPr>
          <p:cNvPr id="54" name="Shape 51"/>
          <p:cNvSpPr/>
          <p:nvPr/>
        </p:nvSpPr>
        <p:spPr>
          <a:xfrm>
            <a:off x="9782175" y="6848475"/>
            <a:ext cx="14668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9896475" y="6634163"/>
            <a:ext cx="670620" cy="223838"/>
          </a:xfrm>
          <a:prstGeom prst="roundRect">
            <a:avLst>
              <a:gd name="adj" fmla="val 25532"/>
            </a:avLst>
          </a:prstGeom>
          <a:ln w="9525">
            <a:solidFill>
              <a:srgbClr val="6B3FA8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619875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85800" y="485775"/>
            <a:ext cx="23526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DEMONSTRATION WALKTHROUGH</a:t>
            </a:r>
            <a:endParaRPr lang="en-US" sz="975" dirty="0"/>
          </a:p>
        </p:txBody>
      </p:sp>
      <p:sp>
        <p:nvSpPr>
          <p:cNvPr id="58" name="Text 54"/>
          <p:cNvSpPr/>
          <p:nvPr/>
        </p:nvSpPr>
        <p:spPr>
          <a:xfrm>
            <a:off x="10198150" y="528638"/>
            <a:ext cx="11842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SIMULATED DEMO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685800" y="857250"/>
            <a:ext cx="932944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Demonstration Walkthrough &amp; Key Observations</a:t>
            </a:r>
            <a:endParaRPr lang="en-US" sz="3300" dirty="0"/>
          </a:p>
        </p:txBody>
      </p:sp>
      <p:sp>
        <p:nvSpPr>
          <p:cNvPr id="60" name="Text 56"/>
          <p:cNvSpPr/>
          <p:nvPr/>
        </p:nvSpPr>
        <p:spPr>
          <a:xfrm>
            <a:off x="685800" y="1400175"/>
            <a:ext cx="73104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Six-step flow from selecting a virtual patient archetype to reviewing the displayed outputs.</a:t>
            </a:r>
            <a:endParaRPr lang="en-US" sz="1350" dirty="0"/>
          </a:p>
        </p:txBody>
      </p:sp>
      <p:sp>
        <p:nvSpPr>
          <p:cNvPr id="61" name="Text 57"/>
          <p:cNvSpPr/>
          <p:nvPr/>
        </p:nvSpPr>
        <p:spPr>
          <a:xfrm>
            <a:off x="847725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847725" y="2190750"/>
            <a:ext cx="1174849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 a virtual patient archetype</a:t>
            </a:r>
            <a:endParaRPr lang="en-US" sz="1275" dirty="0"/>
          </a:p>
        </p:txBody>
      </p:sp>
      <p:sp>
        <p:nvSpPr>
          <p:cNvPr id="63" name="Text 59"/>
          <p:cNvSpPr/>
          <p:nvPr/>
        </p:nvSpPr>
        <p:spPr>
          <a:xfrm>
            <a:off x="2686050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2686050" y="2190750"/>
            <a:ext cx="892969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Configure patient parameters</a:t>
            </a:r>
            <a:endParaRPr lang="en-US" sz="1275" dirty="0"/>
          </a:p>
        </p:txBody>
      </p:sp>
      <p:sp>
        <p:nvSpPr>
          <p:cNvPr id="65" name="Text 61"/>
          <p:cNvSpPr/>
          <p:nvPr/>
        </p:nvSpPr>
        <p:spPr>
          <a:xfrm>
            <a:off x="4533900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900" dirty="0"/>
          </a:p>
        </p:txBody>
      </p:sp>
      <p:sp>
        <p:nvSpPr>
          <p:cNvPr id="66" name="Text 62"/>
          <p:cNvSpPr/>
          <p:nvPr/>
        </p:nvSpPr>
        <p:spPr>
          <a:xfrm>
            <a:off x="4533900" y="2190750"/>
            <a:ext cx="899815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Inspect the generated telemetry stream</a:t>
            </a:r>
            <a:endParaRPr lang="en-US" sz="1275" dirty="0"/>
          </a:p>
        </p:txBody>
      </p:sp>
      <p:sp>
        <p:nvSpPr>
          <p:cNvPr id="67" name="Text 63"/>
          <p:cNvSpPr/>
          <p:nvPr/>
        </p:nvSpPr>
        <p:spPr>
          <a:xfrm>
            <a:off x="6372225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6372225" y="2190750"/>
            <a:ext cx="104641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Explore time-series charts</a:t>
            </a:r>
            <a:endParaRPr lang="en-US" sz="1275" dirty="0"/>
          </a:p>
        </p:txBody>
      </p:sp>
      <p:sp>
        <p:nvSpPr>
          <p:cNvPr id="69" name="Text 65"/>
          <p:cNvSpPr/>
          <p:nvPr/>
        </p:nvSpPr>
        <p:spPr>
          <a:xfrm>
            <a:off x="8220075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05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8220075" y="2190750"/>
            <a:ext cx="1151781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supported scenario or anomaly controls</a:t>
            </a:r>
            <a:endParaRPr lang="en-US" sz="1275" dirty="0"/>
          </a:p>
        </p:txBody>
      </p:sp>
      <p:sp>
        <p:nvSpPr>
          <p:cNvPr id="71" name="Text 67"/>
          <p:cNvSpPr/>
          <p:nvPr/>
        </p:nvSpPr>
        <p:spPr>
          <a:xfrm>
            <a:off x="10058400" y="194310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06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10058400" y="2190750"/>
            <a:ext cx="854571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275" b="1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the displayed outputs</a:t>
            </a:r>
            <a:endParaRPr lang="en-US" sz="1275" dirty="0"/>
          </a:p>
        </p:txBody>
      </p:sp>
      <p:sp>
        <p:nvSpPr>
          <p:cNvPr id="73" name="Text 69"/>
          <p:cNvSpPr/>
          <p:nvPr/>
        </p:nvSpPr>
        <p:spPr>
          <a:xfrm>
            <a:off x="962025" y="3667125"/>
            <a:ext cx="198507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-27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Screenshot placeholders</a:t>
            </a:r>
            <a:endParaRPr lang="en-US" sz="1350" dirty="0"/>
          </a:p>
        </p:txBody>
      </p:sp>
      <p:sp>
        <p:nvSpPr>
          <p:cNvPr id="74" name="Text 70"/>
          <p:cNvSpPr/>
          <p:nvPr/>
        </p:nvSpPr>
        <p:spPr>
          <a:xfrm>
            <a:off x="4712940" y="3697039"/>
            <a:ext cx="9163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CAPTURES</a:t>
            </a:r>
            <a:endParaRPr lang="en-US" sz="975" dirty="0"/>
          </a:p>
        </p:txBody>
      </p:sp>
      <p:sp>
        <p:nvSpPr>
          <p:cNvPr id="75" name="Text 71"/>
          <p:cNvSpPr/>
          <p:nvPr/>
        </p:nvSpPr>
        <p:spPr>
          <a:xfrm>
            <a:off x="1085850" y="4200525"/>
            <a:ext cx="147325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 01 · ARCHETYPE SELECTION</a:t>
            </a:r>
            <a:endParaRPr lang="en-US" sz="825" dirty="0"/>
          </a:p>
        </p:txBody>
      </p:sp>
      <p:sp>
        <p:nvSpPr>
          <p:cNvPr id="76" name="Text 72"/>
          <p:cNvSpPr/>
          <p:nvPr/>
        </p:nvSpPr>
        <p:spPr>
          <a:xfrm>
            <a:off x="1085850" y="4646414"/>
            <a:ext cx="19435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demo screenshot</a:t>
            </a:r>
            <a:endParaRPr lang="en-US" sz="975" dirty="0"/>
          </a:p>
        </p:txBody>
      </p:sp>
      <p:sp>
        <p:nvSpPr>
          <p:cNvPr id="77" name="Text 73"/>
          <p:cNvSpPr/>
          <p:nvPr/>
        </p:nvSpPr>
        <p:spPr>
          <a:xfrm>
            <a:off x="3486150" y="4200525"/>
            <a:ext cx="1473250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 02 · PARAMETER CONFIGURATION</a:t>
            </a:r>
            <a:endParaRPr lang="en-US" sz="825" dirty="0"/>
          </a:p>
        </p:txBody>
      </p:sp>
      <p:sp>
        <p:nvSpPr>
          <p:cNvPr id="78" name="Text 74"/>
          <p:cNvSpPr/>
          <p:nvPr/>
        </p:nvSpPr>
        <p:spPr>
          <a:xfrm>
            <a:off x="3486150" y="4646414"/>
            <a:ext cx="19435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demo screenshot</a:t>
            </a:r>
            <a:endParaRPr lang="en-US" sz="975" dirty="0"/>
          </a:p>
        </p:txBody>
      </p:sp>
      <p:sp>
        <p:nvSpPr>
          <p:cNvPr id="79" name="Text 75"/>
          <p:cNvSpPr/>
          <p:nvPr/>
        </p:nvSpPr>
        <p:spPr>
          <a:xfrm>
            <a:off x="1085850" y="5143500"/>
            <a:ext cx="201587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 03 · TELEMETRY STREAM</a:t>
            </a:r>
            <a:endParaRPr lang="en-US" sz="825" dirty="0"/>
          </a:p>
        </p:txBody>
      </p:sp>
      <p:sp>
        <p:nvSpPr>
          <p:cNvPr id="80" name="Text 76"/>
          <p:cNvSpPr/>
          <p:nvPr/>
        </p:nvSpPr>
        <p:spPr>
          <a:xfrm>
            <a:off x="1085850" y="5589389"/>
            <a:ext cx="19435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demo screenshot</a:t>
            </a:r>
            <a:endParaRPr lang="en-US" sz="975" dirty="0"/>
          </a:p>
        </p:txBody>
      </p:sp>
      <p:sp>
        <p:nvSpPr>
          <p:cNvPr id="81" name="Text 77"/>
          <p:cNvSpPr/>
          <p:nvPr/>
        </p:nvSpPr>
        <p:spPr>
          <a:xfrm>
            <a:off x="3486150" y="5143500"/>
            <a:ext cx="1628329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SHOT 04 · TIME-SERIES CHARTS</a:t>
            </a:r>
            <a:endParaRPr lang="en-US" sz="825" dirty="0"/>
          </a:p>
        </p:txBody>
      </p:sp>
      <p:sp>
        <p:nvSpPr>
          <p:cNvPr id="82" name="Text 78"/>
          <p:cNvSpPr/>
          <p:nvPr/>
        </p:nvSpPr>
        <p:spPr>
          <a:xfrm>
            <a:off x="3486150" y="5589389"/>
            <a:ext cx="1943546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for demo screenshot</a:t>
            </a:r>
            <a:endParaRPr lang="en-US" sz="975" dirty="0"/>
          </a:p>
        </p:txBody>
      </p:sp>
      <p:sp>
        <p:nvSpPr>
          <p:cNvPr id="83" name="Text 79"/>
          <p:cNvSpPr/>
          <p:nvPr/>
        </p:nvSpPr>
        <p:spPr>
          <a:xfrm>
            <a:off x="6410325" y="3696593"/>
            <a:ext cx="168860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-27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observations</a:t>
            </a:r>
            <a:endParaRPr lang="en-US" sz="1350" dirty="0"/>
          </a:p>
        </p:txBody>
      </p:sp>
      <p:sp>
        <p:nvSpPr>
          <p:cNvPr id="84" name="Text 80"/>
          <p:cNvSpPr/>
          <p:nvPr/>
        </p:nvSpPr>
        <p:spPr>
          <a:xfrm>
            <a:off x="9762976" y="3733800"/>
            <a:ext cx="137174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 verification</a:t>
            </a:r>
            <a:endParaRPr lang="en-US" sz="900" dirty="0"/>
          </a:p>
        </p:txBody>
      </p:sp>
      <p:sp>
        <p:nvSpPr>
          <p:cNvPr id="85" name="Text 81"/>
          <p:cNvSpPr/>
          <p:nvPr/>
        </p:nvSpPr>
        <p:spPr>
          <a:xfrm>
            <a:off x="6524625" y="4171950"/>
            <a:ext cx="3101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</a:t>
            </a:r>
            <a:endParaRPr lang="en-US" sz="825" dirty="0"/>
          </a:p>
        </p:txBody>
      </p:sp>
      <p:sp>
        <p:nvSpPr>
          <p:cNvPr id="86" name="Text 82"/>
          <p:cNvSpPr/>
          <p:nvPr/>
        </p:nvSpPr>
        <p:spPr>
          <a:xfrm>
            <a:off x="7553325" y="4171950"/>
            <a:ext cx="85293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OBSERVATION</a:t>
            </a:r>
            <a:endParaRPr lang="en-US" sz="825" dirty="0"/>
          </a:p>
        </p:txBody>
      </p:sp>
      <p:sp>
        <p:nvSpPr>
          <p:cNvPr id="87" name="Text 83"/>
          <p:cNvSpPr/>
          <p:nvPr/>
        </p:nvSpPr>
        <p:spPr>
          <a:xfrm>
            <a:off x="9896475" y="4171950"/>
            <a:ext cx="4652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825" dirty="0"/>
          </a:p>
        </p:txBody>
      </p:sp>
      <p:sp>
        <p:nvSpPr>
          <p:cNvPr id="88" name="Text 84"/>
          <p:cNvSpPr/>
          <p:nvPr/>
        </p:nvSpPr>
        <p:spPr>
          <a:xfrm>
            <a:off x="6524625" y="4586288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01</a:t>
            </a:r>
            <a:endParaRPr lang="en-US" sz="900" dirty="0"/>
          </a:p>
        </p:txBody>
      </p:sp>
      <p:sp>
        <p:nvSpPr>
          <p:cNvPr id="89" name="Text 85"/>
          <p:cNvSpPr/>
          <p:nvPr/>
        </p:nvSpPr>
        <p:spPr>
          <a:xfrm>
            <a:off x="7553325" y="4481513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9991725" y="4586288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91" name="Text 87"/>
          <p:cNvSpPr/>
          <p:nvPr/>
        </p:nvSpPr>
        <p:spPr>
          <a:xfrm>
            <a:off x="6524625" y="5110163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02</a:t>
            </a:r>
            <a:endParaRPr lang="en-US" sz="900" dirty="0"/>
          </a:p>
        </p:txBody>
      </p:sp>
      <p:sp>
        <p:nvSpPr>
          <p:cNvPr id="92" name="Text 88"/>
          <p:cNvSpPr/>
          <p:nvPr/>
        </p:nvSpPr>
        <p:spPr>
          <a:xfrm>
            <a:off x="7553325" y="5005388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93" name="Text 89"/>
          <p:cNvSpPr/>
          <p:nvPr/>
        </p:nvSpPr>
        <p:spPr>
          <a:xfrm>
            <a:off x="9991725" y="5110163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94" name="Text 90"/>
          <p:cNvSpPr/>
          <p:nvPr/>
        </p:nvSpPr>
        <p:spPr>
          <a:xfrm>
            <a:off x="6524625" y="5634038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03</a:t>
            </a:r>
            <a:endParaRPr lang="en-US" sz="900" dirty="0"/>
          </a:p>
        </p:txBody>
      </p:sp>
      <p:sp>
        <p:nvSpPr>
          <p:cNvPr id="95" name="Text 91"/>
          <p:cNvSpPr/>
          <p:nvPr/>
        </p:nvSpPr>
        <p:spPr>
          <a:xfrm>
            <a:off x="7553325" y="5529263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96" name="Text 92"/>
          <p:cNvSpPr/>
          <p:nvPr/>
        </p:nvSpPr>
        <p:spPr>
          <a:xfrm>
            <a:off x="9991725" y="5634038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97" name="Text 93"/>
          <p:cNvSpPr/>
          <p:nvPr/>
        </p:nvSpPr>
        <p:spPr>
          <a:xfrm>
            <a:off x="6524625" y="6157913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04</a:t>
            </a:r>
            <a:endParaRPr lang="en-US" sz="900" dirty="0"/>
          </a:p>
        </p:txBody>
      </p:sp>
      <p:sp>
        <p:nvSpPr>
          <p:cNvPr id="98" name="Text 94"/>
          <p:cNvSpPr/>
          <p:nvPr/>
        </p:nvSpPr>
        <p:spPr>
          <a:xfrm>
            <a:off x="7553325" y="6053138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99" name="Text 95"/>
          <p:cNvSpPr/>
          <p:nvPr/>
        </p:nvSpPr>
        <p:spPr>
          <a:xfrm>
            <a:off x="9991725" y="6157913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6524625" y="6681788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05</a:t>
            </a:r>
            <a:endParaRPr lang="en-US" sz="900" dirty="0"/>
          </a:p>
        </p:txBody>
      </p:sp>
      <p:sp>
        <p:nvSpPr>
          <p:cNvPr id="101" name="Text 97"/>
          <p:cNvSpPr/>
          <p:nvPr/>
        </p:nvSpPr>
        <p:spPr>
          <a:xfrm>
            <a:off x="7553325" y="6577013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102" name="Text 98"/>
          <p:cNvSpPr/>
          <p:nvPr/>
        </p:nvSpPr>
        <p:spPr>
          <a:xfrm>
            <a:off x="9991725" y="6681788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103" name="Text 99"/>
          <p:cNvSpPr/>
          <p:nvPr/>
        </p:nvSpPr>
        <p:spPr>
          <a:xfrm>
            <a:off x="6524625" y="7205663"/>
            <a:ext cx="560189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06</a:t>
            </a:r>
            <a:endParaRPr lang="en-US" sz="900" dirty="0"/>
          </a:p>
        </p:txBody>
      </p:sp>
      <p:sp>
        <p:nvSpPr>
          <p:cNvPr id="104" name="Text 100"/>
          <p:cNvSpPr/>
          <p:nvPr/>
        </p:nvSpPr>
        <p:spPr>
          <a:xfrm>
            <a:off x="7553325" y="7100888"/>
            <a:ext cx="134659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[Placeholder: verified observation]</a:t>
            </a:r>
            <a:endParaRPr lang="en-US" sz="1050" dirty="0"/>
          </a:p>
        </p:txBody>
      </p:sp>
      <p:sp>
        <p:nvSpPr>
          <p:cNvPr id="105" name="Text 101"/>
          <p:cNvSpPr/>
          <p:nvPr/>
        </p:nvSpPr>
        <p:spPr>
          <a:xfrm>
            <a:off x="9991725" y="7205663"/>
            <a:ext cx="48012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Pending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10914013" y="6486525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2025" y="2028825"/>
            <a:ext cx="4667250" cy="466725"/>
          </a:xfrm>
          <a:prstGeom prst="rect">
            <a:avLst/>
          </a:prstGeom>
          <a:ln/>
        </p:spPr>
      </p:sp>
      <p:sp>
        <p:nvSpPr>
          <p:cNvPr id="4" name="Shape 1"/>
          <p:cNvSpPr/>
          <p:nvPr/>
        </p:nvSpPr>
        <p:spPr>
          <a:xfrm>
            <a:off x="962025" y="2486025"/>
            <a:ext cx="46672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62025" y="2628900"/>
            <a:ext cx="4667250" cy="439936"/>
          </a:xfrm>
          <a:prstGeom prst="rect">
            <a:avLst/>
          </a:prstGeom>
          <a:ln/>
        </p:spPr>
      </p:sp>
      <p:sp>
        <p:nvSpPr>
          <p:cNvPr id="6" name="Shape 3"/>
          <p:cNvSpPr/>
          <p:nvPr/>
        </p:nvSpPr>
        <p:spPr>
          <a:xfrm>
            <a:off x="962025" y="3059311"/>
            <a:ext cx="46672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62025" y="3068836"/>
            <a:ext cx="4667250" cy="439936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962025" y="3499247"/>
            <a:ext cx="46672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62025" y="3508772"/>
            <a:ext cx="4667250" cy="679847"/>
          </a:xfrm>
          <a:prstGeom prst="rect">
            <a:avLst/>
          </a:prstGeom>
          <a:ln/>
        </p:spPr>
      </p:sp>
      <p:sp>
        <p:nvSpPr>
          <p:cNvPr id="10" name="Shape 7"/>
          <p:cNvSpPr/>
          <p:nvPr/>
        </p:nvSpPr>
        <p:spPr>
          <a:xfrm>
            <a:off x="962025" y="4179094"/>
            <a:ext cx="46672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134100" y="1771650"/>
            <a:ext cx="5372100" cy="3867150"/>
          </a:xfrm>
          <a:prstGeom prst="roundRect">
            <a:avLst>
              <a:gd name="adj" fmla="val 3448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  <a:effectLst>
            <a:outerShdw sx="100000" sy="100000" kx="0" ky="0" algn="bl" rotWithShape="0" blurRad="381000" dist="171450" dir="5400000">
              <a:srgbClr val="000000">
                <a:alpha val="6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0325" y="2028825"/>
            <a:ext cx="4819650" cy="466725"/>
          </a:xfrm>
          <a:prstGeom prst="rect">
            <a:avLst/>
          </a:prstGeom>
          <a:ln/>
        </p:spPr>
      </p:sp>
      <p:sp>
        <p:nvSpPr>
          <p:cNvPr id="13" name="Shape 10"/>
          <p:cNvSpPr/>
          <p:nvPr/>
        </p:nvSpPr>
        <p:spPr>
          <a:xfrm>
            <a:off x="6410325" y="2486025"/>
            <a:ext cx="4819650" cy="9525"/>
          </a:xfrm>
          <a:prstGeom prst="rect">
            <a:avLst/>
          </a:prstGeom>
          <a:solidFill>
            <a:srgbClr val="6B3FA8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720709" y="2057400"/>
            <a:ext cx="1509266" cy="266700"/>
          </a:xfrm>
          <a:prstGeom prst="roundRect">
            <a:avLst>
              <a:gd name="adj" fmla="val 50000"/>
            </a:avLst>
          </a:prstGeom>
          <a:ln w="9525">
            <a:solidFill>
              <a:srgbClr val="6B3F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0325" y="2628900"/>
            <a:ext cx="4819650" cy="679847"/>
          </a:xfrm>
          <a:prstGeom prst="rect">
            <a:avLst/>
          </a:prstGeom>
          <a:ln/>
        </p:spPr>
      </p:sp>
      <p:sp>
        <p:nvSpPr>
          <p:cNvPr id="16" name="Shape 13"/>
          <p:cNvSpPr/>
          <p:nvPr/>
        </p:nvSpPr>
        <p:spPr>
          <a:xfrm>
            <a:off x="6410325" y="3299222"/>
            <a:ext cx="4819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10325" y="3308747"/>
            <a:ext cx="4819650" cy="439936"/>
          </a:xfrm>
          <a:prstGeom prst="rect">
            <a:avLst/>
          </a:prstGeom>
          <a:ln/>
        </p:spPr>
      </p:sp>
      <p:sp>
        <p:nvSpPr>
          <p:cNvPr id="18" name="Shape 15"/>
          <p:cNvSpPr/>
          <p:nvPr/>
        </p:nvSpPr>
        <p:spPr>
          <a:xfrm>
            <a:off x="6410325" y="3739158"/>
            <a:ext cx="4819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10325" y="3748683"/>
            <a:ext cx="4819650" cy="439936"/>
          </a:xfrm>
          <a:prstGeom prst="rect">
            <a:avLst/>
          </a:prstGeom>
          <a:ln/>
        </p:spPr>
      </p:sp>
      <p:sp>
        <p:nvSpPr>
          <p:cNvPr id="20" name="Shape 17"/>
          <p:cNvSpPr/>
          <p:nvPr/>
        </p:nvSpPr>
        <p:spPr>
          <a:xfrm>
            <a:off x="6410325" y="4179094"/>
            <a:ext cx="4819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410325" y="4188619"/>
            <a:ext cx="4819650" cy="439936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6410325" y="4619030"/>
            <a:ext cx="4819650" cy="9525"/>
          </a:xfrm>
          <a:prstGeom prst="rect">
            <a:avLst/>
          </a:prstGeom>
          <a:solidFill>
            <a:srgbClr val="B8A9D9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F3DA8">
              <a:alpha val="7000"/>
            </a:srgbClr>
          </a:solidFill>
          <a:ln w="9525">
            <a:solidFill>
              <a:srgbClr val="FF3DA8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ff3da8">
                <a:alpha val="2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4960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5800" y="533400"/>
            <a:ext cx="27292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 · LIMITATIONS &amp; SCOPE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685800" y="904875"/>
            <a:ext cx="791899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Limitations, Safety &amp; Future Scope</a:t>
            </a:r>
            <a:endParaRPr lang="en-US" sz="3900" dirty="0"/>
          </a:p>
        </p:txBody>
      </p:sp>
      <p:sp>
        <p:nvSpPr>
          <p:cNvPr id="27" name="Text 23"/>
          <p:cNvSpPr/>
          <p:nvPr/>
        </p:nvSpPr>
        <p:spPr>
          <a:xfrm>
            <a:off x="962025" y="2028825"/>
            <a:ext cx="12802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28" name="Text 24"/>
          <p:cNvSpPr/>
          <p:nvPr/>
        </p:nvSpPr>
        <p:spPr>
          <a:xfrm>
            <a:off x="5037088" y="21145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ITEMS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962025" y="2762250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975" dirty="0"/>
          </a:p>
        </p:txBody>
      </p:sp>
      <p:sp>
        <p:nvSpPr>
          <p:cNvPr id="30" name="Text 26"/>
          <p:cNvSpPr/>
          <p:nvPr/>
        </p:nvSpPr>
        <p:spPr>
          <a:xfrm>
            <a:off x="1381125" y="2743200"/>
            <a:ext cx="41850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synthetic or simulated data for demonstration.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962025" y="3202186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1381125" y="3183136"/>
            <a:ext cx="32599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an experimental hackathon prototype.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962025" y="3642122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975" dirty="0"/>
          </a:p>
        </p:txBody>
      </p:sp>
      <p:sp>
        <p:nvSpPr>
          <p:cNvPr id="34" name="Text 30"/>
          <p:cNvSpPr/>
          <p:nvPr/>
        </p:nvSpPr>
        <p:spPr>
          <a:xfrm>
            <a:off x="1381125" y="3623072"/>
            <a:ext cx="396507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not been established as a clinically validated diagnostic or prognostic system.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962025" y="4321969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</a:t>
            </a:r>
            <a:endParaRPr lang="en-US" sz="975" dirty="0"/>
          </a:p>
        </p:txBody>
      </p:sp>
      <p:sp>
        <p:nvSpPr>
          <p:cNvPr id="36" name="Text 32"/>
          <p:cNvSpPr/>
          <p:nvPr/>
        </p:nvSpPr>
        <p:spPr>
          <a:xfrm>
            <a:off x="1381125" y="4302919"/>
            <a:ext cx="40000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not be used to make real medical decisions.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410325" y="2028825"/>
            <a:ext cx="152013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spc="-39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1950" dirty="0"/>
          </a:p>
        </p:txBody>
      </p:sp>
      <p:sp>
        <p:nvSpPr>
          <p:cNvPr id="38" name="Text 34"/>
          <p:cNvSpPr/>
          <p:nvPr/>
        </p:nvSpPr>
        <p:spPr>
          <a:xfrm>
            <a:off x="10006459" y="2114550"/>
            <a:ext cx="109969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WORK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410325" y="2762250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F1</a:t>
            </a:r>
            <a:endParaRPr lang="en-US" sz="975" dirty="0"/>
          </a:p>
        </p:txBody>
      </p:sp>
      <p:sp>
        <p:nvSpPr>
          <p:cNvPr id="40" name="Text 36"/>
          <p:cNvSpPr/>
          <p:nvPr/>
        </p:nvSpPr>
        <p:spPr>
          <a:xfrm>
            <a:off x="6829425" y="2743200"/>
            <a:ext cx="3790801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with appropriately authorized and de-identified real-world data.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6410325" y="3442097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F2</a:t>
            </a:r>
            <a:endParaRPr lang="en-US" sz="975" dirty="0"/>
          </a:p>
        </p:txBody>
      </p:sp>
      <p:sp>
        <p:nvSpPr>
          <p:cNvPr id="42" name="Text 38"/>
          <p:cNvSpPr/>
          <p:nvPr/>
        </p:nvSpPr>
        <p:spPr>
          <a:xfrm>
            <a:off x="6829425" y="3423047"/>
            <a:ext cx="41549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temporal modeling and anomaly detection.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6410325" y="3882033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F3</a:t>
            </a:r>
            <a:endParaRPr lang="en-US" sz="975" dirty="0"/>
          </a:p>
        </p:txBody>
      </p:sp>
      <p:sp>
        <p:nvSpPr>
          <p:cNvPr id="44" name="Text 40"/>
          <p:cNvSpPr/>
          <p:nvPr/>
        </p:nvSpPr>
        <p:spPr>
          <a:xfrm>
            <a:off x="6829425" y="3862983"/>
            <a:ext cx="402208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models using suitable validation metrics.</a:t>
            </a:r>
            <a:endParaRPr lang="en-US" sz="1350" dirty="0"/>
          </a:p>
        </p:txBody>
      </p:sp>
      <p:sp>
        <p:nvSpPr>
          <p:cNvPr id="45" name="Text 41"/>
          <p:cNvSpPr/>
          <p:nvPr/>
        </p:nvSpPr>
        <p:spPr>
          <a:xfrm>
            <a:off x="6410325" y="4321969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F4</a:t>
            </a:r>
            <a:endParaRPr lang="en-US" sz="975" dirty="0"/>
          </a:p>
        </p:txBody>
      </p:sp>
      <p:sp>
        <p:nvSpPr>
          <p:cNvPr id="46" name="Text 42"/>
          <p:cNvSpPr/>
          <p:nvPr/>
        </p:nvSpPr>
        <p:spPr>
          <a:xfrm>
            <a:off x="6829425" y="4302919"/>
            <a:ext cx="29770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wearable-device integration.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6410325" y="4761905"/>
            <a:ext cx="17338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F5</a:t>
            </a:r>
            <a:endParaRPr lang="en-US" sz="975" dirty="0"/>
          </a:p>
        </p:txBody>
      </p:sp>
      <p:sp>
        <p:nvSpPr>
          <p:cNvPr id="48" name="Text 44"/>
          <p:cNvSpPr/>
          <p:nvPr/>
        </p:nvSpPr>
        <p:spPr>
          <a:xfrm>
            <a:off x="6829425" y="4742855"/>
            <a:ext cx="408696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clinical and privacy evaluation before any real-world deployment.</a:t>
            </a:r>
            <a:endParaRPr lang="en-US" sz="1350" dirty="0"/>
          </a:p>
        </p:txBody>
      </p:sp>
      <p:sp>
        <p:nvSpPr>
          <p:cNvPr id="49" name="Text 45"/>
          <p:cNvSpPr/>
          <p:nvPr/>
        </p:nvSpPr>
        <p:spPr>
          <a:xfrm>
            <a:off x="962025" y="5995988"/>
            <a:ext cx="155778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DISCLAIMER</a:t>
            </a:r>
            <a:endParaRPr lang="en-US" sz="975" dirty="0"/>
          </a:p>
        </p:txBody>
      </p:sp>
      <p:sp>
        <p:nvSpPr>
          <p:cNvPr id="50" name="Text 46"/>
          <p:cNvSpPr/>
          <p:nvPr/>
        </p:nvSpPr>
        <p:spPr>
          <a:xfrm>
            <a:off x="2729359" y="5976045"/>
            <a:ext cx="55012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6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clinically validated. Must not be used for real medical decisions.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685800" y="6515100"/>
            <a:ext cx="2627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DATA · SIMULATED OUTPUT</a:t>
            </a:r>
            <a:endParaRPr lang="en-US" sz="825" dirty="0"/>
          </a:p>
        </p:txBody>
      </p:sp>
      <p:sp>
        <p:nvSpPr>
          <p:cNvPr id="52" name="Text 48"/>
          <p:cNvSpPr/>
          <p:nvPr/>
        </p:nvSpPr>
        <p:spPr>
          <a:xfrm>
            <a:off x="10914013" y="64960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82000" y="0"/>
            <a:ext cx="3810000" cy="2952750"/>
          </a:xfrm>
          <a:prstGeom prst="roundRect">
            <a:avLst>
              <a:gd name="adj" fmla="val 50000"/>
            </a:avLst>
          </a:prstGeom>
          <a:ln w="9525">
            <a:solidFill>
              <a:srgbClr val="22D3EE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2d3ee">
                <a:alpha val="5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923925" y="3114675"/>
            <a:ext cx="1320998" cy="26670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9925" y="3114675"/>
            <a:ext cx="1320998" cy="26670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95925" y="3114675"/>
            <a:ext cx="1320998" cy="266700"/>
          </a:xfrm>
          <a:prstGeom prst="roundRect">
            <a:avLst>
              <a:gd name="adj" fmla="val 50000"/>
            </a:avLst>
          </a:prstGeom>
          <a:solidFill>
            <a:srgbClr val="22D3EE">
              <a:alpha val="8000"/>
            </a:srgbClr>
          </a:solidFill>
          <a:ln w="9525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34325" y="3865066"/>
            <a:ext cx="3257550" cy="1143000"/>
          </a:xfrm>
          <a:prstGeom prst="rect">
            <a:avLst/>
          </a:prstGeom>
          <a:ln/>
        </p:spPr>
      </p:sp>
      <p:sp>
        <p:nvSpPr>
          <p:cNvPr id="8" name="Shape 5"/>
          <p:cNvSpPr/>
          <p:nvPr/>
        </p:nvSpPr>
        <p:spPr>
          <a:xfrm>
            <a:off x="7934325" y="3865066"/>
            <a:ext cx="28575" cy="1143000"/>
          </a:xfrm>
          <a:prstGeom prst="rect">
            <a:avLst/>
          </a:prstGeom>
          <a:solidFill>
            <a:srgbClr val="FF3DA8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5753100"/>
            <a:ext cx="3390900" cy="590550"/>
          </a:xfrm>
          <a:prstGeom prst="roundRect">
            <a:avLst>
              <a:gd name="adj" fmla="val 16129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00550" y="5753100"/>
            <a:ext cx="3390900" cy="590550"/>
          </a:xfrm>
          <a:prstGeom prst="roundRect">
            <a:avLst>
              <a:gd name="adj" fmla="val 16129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15300" y="5753100"/>
            <a:ext cx="3390900" cy="590550"/>
          </a:xfrm>
          <a:prstGeom prst="roundRect">
            <a:avLst>
              <a:gd name="adj" fmla="val 16129"/>
            </a:avLst>
          </a:prstGeom>
          <a:solidFill>
            <a:srgbClr val="26143F">
              <a:alpha val="35000"/>
            </a:srgbClr>
          </a:solidFill>
          <a:ln w="9525">
            <a:solidFill>
              <a:srgbClr val="6B3F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30050" cy="64960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533400"/>
            <a:ext cx="20704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 · CONCLUSION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685800" y="904875"/>
            <a:ext cx="7982396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Conclusion: TwinCare AI's Potential</a:t>
            </a:r>
            <a:endParaRPr lang="en-US" sz="3900" dirty="0"/>
          </a:p>
        </p:txBody>
      </p:sp>
      <p:sp>
        <p:nvSpPr>
          <p:cNvPr id="15" name="Text 11"/>
          <p:cNvSpPr/>
          <p:nvPr/>
        </p:nvSpPr>
        <p:spPr>
          <a:xfrm>
            <a:off x="685800" y="1647825"/>
            <a:ext cx="1038299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TwinCare AI demonstrates an interactive approach to exploring synthetic physiological telemetry through virtual patient configuration, time-series visualization, and simulated scenario analysis.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923925" y="2828925"/>
            <a:ext cx="7819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ASPECT 01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90625" y="3171825"/>
            <a:ext cx="93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23925" y="3543300"/>
            <a:ext cx="1398389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Virtual patient configuration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923925" y="4179391"/>
            <a:ext cx="1525935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cohort archetypes with patient identifier, age, biological sex, activity, sleep and stress settings.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3209925" y="2828925"/>
            <a:ext cx="7819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ASPECT 02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76625" y="3171825"/>
            <a:ext cx="93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09925" y="3543300"/>
            <a:ext cx="966788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Simulated telemetry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3209925" y="4179391"/>
            <a:ext cx="1398538" cy="1026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synthetic telemetry for heart rate, blood pressure, glucose, SpO</a:t>
            </a:r>
            <a:pPr algn="l" indent="0" marL="0">
              <a:lnSpc>
                <a:spcPts val="1631"/>
              </a:lnSpc>
              <a:buNone/>
            </a:pPr>
            <a:r>
              <a:rPr lang="en-US" sz="750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temperature.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5495925" y="2828925"/>
            <a:ext cx="78194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ASPECT 03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762625" y="3171825"/>
            <a:ext cx="93047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495925" y="3543300"/>
            <a:ext cx="1213842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spc="-33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Time-series visualization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5495925" y="4179391"/>
            <a:ext cx="1282005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physiological time-series charts with time-horizon and sensor-interval controls.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7934325" y="2847975"/>
            <a:ext cx="82480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3D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POTENTIAL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7934325" y="3095625"/>
            <a:ext cx="2992636" cy="608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2"/>
              </a:lnSpc>
              <a:buNone/>
            </a:pPr>
            <a:r>
              <a:rPr lang="en-US" sz="1950" b="1" spc="-39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Research and educational prototype</a:t>
            </a:r>
            <a:endParaRPr lang="en-US" sz="1950" dirty="0"/>
          </a:p>
        </p:txBody>
      </p:sp>
      <p:sp>
        <p:nvSpPr>
          <p:cNvPr id="30" name="Text 26"/>
          <p:cNvSpPr/>
          <p:nvPr/>
        </p:nvSpPr>
        <p:spPr>
          <a:xfrm>
            <a:off x="8134350" y="3855541"/>
            <a:ext cx="2623691" cy="1152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18" kern="0" dirty="0">
                <a:solidFill>
                  <a:srgbClr val="F6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TwinCare AI — Turning simulated health signals into meaningful exploration.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934325" y="5208091"/>
            <a:ext cx="2906316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B8A9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replacement for professional medical assessment.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685800" y="5505450"/>
            <a:ext cx="366533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EDITABLE PARTICIPANT AND COLLEGE DETAILS</a:t>
            </a:r>
            <a:endParaRPr lang="en-US" sz="975" dirty="0"/>
          </a:p>
        </p:txBody>
      </p:sp>
      <p:sp>
        <p:nvSpPr>
          <p:cNvPr id="33" name="Text 29"/>
          <p:cNvSpPr/>
          <p:nvPr/>
        </p:nvSpPr>
        <p:spPr>
          <a:xfrm>
            <a:off x="866775" y="5876925"/>
            <a:ext cx="12406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PARTICIPANT NAME</a:t>
            </a:r>
            <a:endParaRPr lang="en-US" sz="825" dirty="0"/>
          </a:p>
        </p:txBody>
      </p:sp>
      <p:sp>
        <p:nvSpPr>
          <p:cNvPr id="34" name="Text 30"/>
          <p:cNvSpPr/>
          <p:nvPr/>
        </p:nvSpPr>
        <p:spPr>
          <a:xfrm>
            <a:off x="866775" y="6067425"/>
            <a:ext cx="85739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Dhanushree</a:t>
            </a:r>
            <a:endParaRPr lang="en-US" sz="1125" dirty="0"/>
          </a:p>
        </p:txBody>
      </p:sp>
      <p:sp>
        <p:nvSpPr>
          <p:cNvPr id="35" name="Text 31"/>
          <p:cNvSpPr/>
          <p:nvPr/>
        </p:nvSpPr>
        <p:spPr>
          <a:xfrm>
            <a:off x="4581525" y="5876925"/>
            <a:ext cx="54277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COLLEGE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4581525" y="6067425"/>
            <a:ext cx="20575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City Engineering College</a:t>
            </a:r>
            <a:endParaRPr lang="en-US" sz="1125" dirty="0"/>
          </a:p>
        </p:txBody>
      </p:sp>
      <p:sp>
        <p:nvSpPr>
          <p:cNvPr id="37" name="Text 33"/>
          <p:cNvSpPr/>
          <p:nvPr/>
        </p:nvSpPr>
        <p:spPr>
          <a:xfrm>
            <a:off x="8296275" y="5876925"/>
            <a:ext cx="139571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SUBMISSION DETAILS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8296275" y="6067425"/>
            <a:ext cx="128602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AE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Solo submission</a:t>
            </a:r>
            <a:endParaRPr lang="en-US" sz="1125" dirty="0"/>
          </a:p>
        </p:txBody>
      </p:sp>
      <p:sp>
        <p:nvSpPr>
          <p:cNvPr id="39" name="Text 35"/>
          <p:cNvSpPr/>
          <p:nvPr/>
        </p:nvSpPr>
        <p:spPr>
          <a:xfrm>
            <a:off x="10914013" y="6496050"/>
            <a:ext cx="59218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12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85800" y="6515100"/>
            <a:ext cx="262785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B8A9D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SYNTHETIC DATA · SIMULATED OUTPUT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TwinCare AI: Healthcare Digital Twin &amp; Dynamic Telemetry Analytics</dc:title>
  <dc:subject>PptxGenJS Presentation</dc:subject>
  <dc:creator>Kreyato</dc:creator>
  <cp:lastModifiedBy>Kreyato</cp:lastModifiedBy>
  <cp:revision>1</cp:revision>
  <dcterms:created xsi:type="dcterms:W3CDTF">2026-10-19T15:51:50Z</dcterms:created>
  <dcterms:modified xsi:type="dcterms:W3CDTF">2026-10-19T15:51:50Z</dcterms:modified>
</cp:coreProperties>
</file>